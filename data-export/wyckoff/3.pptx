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61" r:id="rId2"/>
    <p:sldId id="262" r:id="rId3"/>
    <p:sldId id="322" r:id="rId4"/>
    <p:sldId id="263" r:id="rId5"/>
    <p:sldId id="264" r:id="rId6"/>
    <p:sldId id="266" r:id="rId7"/>
    <p:sldId id="257" r:id="rId8"/>
    <p:sldId id="258" r:id="rId9"/>
    <p:sldId id="317" r:id="rId10"/>
    <p:sldId id="267" r:id="rId11"/>
    <p:sldId id="259" r:id="rId12"/>
    <p:sldId id="316" r:id="rId13"/>
    <p:sldId id="287" r:id="rId14"/>
    <p:sldId id="315" r:id="rId15"/>
    <p:sldId id="268" r:id="rId16"/>
    <p:sldId id="269" r:id="rId17"/>
    <p:sldId id="270" r:id="rId18"/>
    <p:sldId id="271" r:id="rId19"/>
    <p:sldId id="309" r:id="rId20"/>
    <p:sldId id="272" r:id="rId21"/>
    <p:sldId id="274" r:id="rId22"/>
    <p:sldId id="312" r:id="rId23"/>
    <p:sldId id="310" r:id="rId24"/>
    <p:sldId id="319" r:id="rId25"/>
    <p:sldId id="294" r:id="rId26"/>
    <p:sldId id="288" r:id="rId27"/>
    <p:sldId id="320" r:id="rId28"/>
    <p:sldId id="296" r:id="rId29"/>
    <p:sldId id="299" r:id="rId30"/>
    <p:sldId id="297" r:id="rId31"/>
    <p:sldId id="301" r:id="rId32"/>
    <p:sldId id="313" r:id="rId33"/>
    <p:sldId id="298" r:id="rId34"/>
    <p:sldId id="302" r:id="rId35"/>
    <p:sldId id="311" r:id="rId3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2360" y="13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78BB0D-1E92-4047-BA5C-02EA8F4C87D0}" type="datetimeFigureOut">
              <a:rPr lang="en-US" smtClean="0"/>
              <a:t>10/14/2021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DD5CFF-DD7C-4A56-B5BE-0F2C90BB68E5}" type="slidenum">
              <a:rPr lang="en-US" smtClean="0"/>
              <a:t>‹#›</a:t>
            </a:fld>
            <a:endParaRPr lang="en-US"/>
          </a:p>
        </p:txBody>
      </p:sp>
    </p:spTree>
    <p:extLst>
      <p:ext uri="{BB962C8B-B14F-4D97-AF65-F5344CB8AC3E}">
        <p14:creationId xmlns:p14="http://schemas.microsoft.com/office/powerpoint/2010/main" val="921806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DD5CFF-DD7C-4A56-B5BE-0F2C90BB68E5}" type="slidenum">
              <a:rPr lang="en-US" smtClean="0"/>
              <a:t>7</a:t>
            </a:fld>
            <a:endParaRPr lang="en-US"/>
          </a:p>
        </p:txBody>
      </p:sp>
    </p:spTree>
    <p:extLst>
      <p:ext uri="{BB962C8B-B14F-4D97-AF65-F5344CB8AC3E}">
        <p14:creationId xmlns:p14="http://schemas.microsoft.com/office/powerpoint/2010/main" val="1615774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18F981-E892-46B3-AB84-6D51A49DD3BC}" type="datetimeFigureOut">
              <a:rPr lang="en-US" smtClean="0"/>
              <a:t>10/14/2021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2334987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18F981-E892-46B3-AB84-6D51A49DD3BC}" type="datetimeFigureOut">
              <a:rPr lang="en-US" smtClean="0"/>
              <a:t>10/14/2021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2785270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18F981-E892-46B3-AB84-6D51A49DD3BC}" type="datetimeFigureOut">
              <a:rPr lang="en-US" smtClean="0"/>
              <a:t>10/14/2021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61362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18F981-E892-46B3-AB84-6D51A49DD3BC}" type="datetimeFigureOut">
              <a:rPr lang="en-US" smtClean="0"/>
              <a:t>10/14/2021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3145945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18F981-E892-46B3-AB84-6D51A49DD3BC}" type="datetimeFigureOut">
              <a:rPr lang="en-US" smtClean="0"/>
              <a:t>10/14/2021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3026512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18F981-E892-46B3-AB84-6D51A49DD3BC}" type="datetimeFigureOut">
              <a:rPr lang="en-US" smtClean="0"/>
              <a:t>10/14/2021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2911403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18F981-E892-46B3-AB84-6D51A49DD3BC}" type="datetimeFigureOut">
              <a:rPr lang="en-US" smtClean="0"/>
              <a:t>10/14/2021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4104461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18F981-E892-46B3-AB84-6D51A49DD3BC}" type="datetimeFigureOut">
              <a:rPr lang="en-US" smtClean="0"/>
              <a:t>10/14/2021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243066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18F981-E892-46B3-AB84-6D51A49DD3BC}" type="datetimeFigureOut">
              <a:rPr lang="en-US" smtClean="0"/>
              <a:t>10/14/2021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3693690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18F981-E892-46B3-AB84-6D51A49DD3BC}" type="datetimeFigureOut">
              <a:rPr lang="en-US" smtClean="0"/>
              <a:t>10/14/2021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3479530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18F981-E892-46B3-AB84-6D51A49DD3BC}" type="datetimeFigureOut">
              <a:rPr lang="en-US" smtClean="0"/>
              <a:t>10/14/2021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B51F8C-EB9C-4599-9FF4-0FE5518D0E50}" type="slidenum">
              <a:rPr lang="en-US" smtClean="0"/>
              <a:t>‹#›</a:t>
            </a:fld>
            <a:endParaRPr lang="en-US"/>
          </a:p>
        </p:txBody>
      </p:sp>
    </p:spTree>
    <p:extLst>
      <p:ext uri="{BB962C8B-B14F-4D97-AF65-F5344CB8AC3E}">
        <p14:creationId xmlns:p14="http://schemas.microsoft.com/office/powerpoint/2010/main" val="153159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018F981-E892-46B3-AB84-6D51A49DD3BC}" type="datetimeFigureOut">
              <a:rPr lang="en-US" smtClean="0"/>
              <a:t>10/14/2021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FB51F8C-EB9C-4599-9FF4-0FE5518D0E50}" type="slidenum">
              <a:rPr lang="en-US" smtClean="0"/>
              <a:t>‹#›</a:t>
            </a:fld>
            <a:endParaRPr lang="en-US"/>
          </a:p>
        </p:txBody>
      </p:sp>
    </p:spTree>
    <p:extLst>
      <p:ext uri="{BB962C8B-B14F-4D97-AF65-F5344CB8AC3E}">
        <p14:creationId xmlns:p14="http://schemas.microsoft.com/office/powerpoint/2010/main" val="4251795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2;p13"/>
          <p:cNvPicPr preferRelativeResize="0"/>
          <p:nvPr/>
        </p:nvPicPr>
        <p:blipFill rotWithShape="1">
          <a:blip r:embed="rId2">
            <a:alphaModFix/>
          </a:blip>
          <a:srcRect/>
          <a:stretch/>
        </p:blipFill>
        <p:spPr>
          <a:xfrm>
            <a:off x="25109" y="0"/>
            <a:ext cx="1709550" cy="857250"/>
          </a:xfrm>
          <a:prstGeom prst="rect">
            <a:avLst/>
          </a:prstGeom>
          <a:noFill/>
          <a:ln>
            <a:noFill/>
          </a:ln>
        </p:spPr>
      </p:pic>
      <p:pic>
        <p:nvPicPr>
          <p:cNvPr id="5" name="Google Shape;54;p13"/>
          <p:cNvPicPr preferRelativeResize="0"/>
          <p:nvPr/>
        </p:nvPicPr>
        <p:blipFill>
          <a:blip r:embed="rId3">
            <a:alphaModFix/>
          </a:blip>
          <a:stretch>
            <a:fillRect/>
          </a:stretch>
        </p:blipFill>
        <p:spPr>
          <a:xfrm flipH="1">
            <a:off x="3840309" y="5195"/>
            <a:ext cx="5324475" cy="5143500"/>
          </a:xfrm>
          <a:prstGeom prst="rect">
            <a:avLst/>
          </a:prstGeom>
          <a:noFill/>
          <a:ln>
            <a:noFill/>
          </a:ln>
        </p:spPr>
      </p:pic>
      <p:sp>
        <p:nvSpPr>
          <p:cNvPr id="6" name="Google Shape;57;p13"/>
          <p:cNvSpPr txBox="1"/>
          <p:nvPr/>
        </p:nvSpPr>
        <p:spPr>
          <a:xfrm>
            <a:off x="6510285" y="3562350"/>
            <a:ext cx="2368800" cy="486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vi" sz="1200" b="1" dirty="0">
                <a:solidFill>
                  <a:srgbClr val="FFFFFF"/>
                </a:solidFill>
                <a:latin typeface="Montserrat"/>
                <a:ea typeface="Montserrat"/>
                <a:cs typeface="Montserrat"/>
                <a:sym typeface="Montserrat"/>
              </a:rPr>
              <a:t>8xTRADING GROUP</a:t>
            </a:r>
            <a:endParaRPr sz="1200" b="1" dirty="0">
              <a:solidFill>
                <a:srgbClr val="FFFFFF"/>
              </a:solidFill>
              <a:latin typeface="Montserrat"/>
              <a:ea typeface="Montserrat"/>
              <a:cs typeface="Montserrat"/>
              <a:sym typeface="Montserrat"/>
            </a:endParaRPr>
          </a:p>
        </p:txBody>
      </p:sp>
      <p:cxnSp>
        <p:nvCxnSpPr>
          <p:cNvPr id="7" name="Google Shape;59;p13"/>
          <p:cNvCxnSpPr/>
          <p:nvPr/>
        </p:nvCxnSpPr>
        <p:spPr>
          <a:xfrm>
            <a:off x="6402750" y="3867150"/>
            <a:ext cx="2671650" cy="0"/>
          </a:xfrm>
          <a:prstGeom prst="straightConnector1">
            <a:avLst/>
          </a:prstGeom>
          <a:noFill/>
          <a:ln w="9525" cap="flat" cmpd="sng">
            <a:solidFill>
              <a:srgbClr val="FFFFFF"/>
            </a:solidFill>
            <a:prstDash val="solid"/>
            <a:round/>
            <a:headEnd type="none" w="med" len="med"/>
            <a:tailEnd type="none" w="med" len="med"/>
          </a:ln>
        </p:spPr>
      </p:cxnSp>
      <p:cxnSp>
        <p:nvCxnSpPr>
          <p:cNvPr id="10" name="Straight Connector 9"/>
          <p:cNvCxnSpPr/>
          <p:nvPr/>
        </p:nvCxnSpPr>
        <p:spPr>
          <a:xfrm>
            <a:off x="-63646" y="1925782"/>
            <a:ext cx="5613692" cy="0"/>
          </a:xfrm>
          <a:prstGeom prst="line">
            <a:avLst/>
          </a:prstGeom>
        </p:spPr>
        <p:style>
          <a:lnRef idx="1">
            <a:schemeClr val="accent4"/>
          </a:lnRef>
          <a:fillRef idx="0">
            <a:schemeClr val="accent4"/>
          </a:fillRef>
          <a:effectRef idx="0">
            <a:schemeClr val="accent4"/>
          </a:effectRef>
          <a:fontRef idx="minor">
            <a:schemeClr val="tx1"/>
          </a:fontRef>
        </p:style>
      </p:cxnSp>
      <p:sp>
        <p:nvSpPr>
          <p:cNvPr id="2" name="Rectangle 1"/>
          <p:cNvSpPr/>
          <p:nvPr/>
        </p:nvSpPr>
        <p:spPr>
          <a:xfrm>
            <a:off x="452449" y="1047751"/>
            <a:ext cx="5004895" cy="646331"/>
          </a:xfrm>
          <a:prstGeom prst="rect">
            <a:avLst/>
          </a:prstGeom>
          <a:noFill/>
        </p:spPr>
        <p:txBody>
          <a:bodyPr wrap="none" lIns="91440" tIns="45720" rIns="91440" bIns="45720">
            <a:spAutoFit/>
          </a:bodyPr>
          <a:lstStyle/>
          <a:p>
            <a:pPr algn="ctr"/>
            <a:r>
              <a:rPr lang="en-US" sz="3600" b="1" cap="all"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ontserrat" pitchFamily="2" charset="0"/>
              </a:rPr>
              <a:t>WYCKOFF </a:t>
            </a:r>
            <a:r>
              <a:rPr lang="en-US" sz="36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ontserrat" pitchFamily="2" charset="0"/>
              </a:rPr>
              <a:t>METHOD</a:t>
            </a:r>
            <a:endParaRPr lang="en-US" sz="36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ontserrat" pitchFamily="2" charset="0"/>
            </a:endParaRPr>
          </a:p>
        </p:txBody>
      </p:sp>
      <p:sp>
        <p:nvSpPr>
          <p:cNvPr id="12" name="TextBox 11"/>
          <p:cNvSpPr txBox="1"/>
          <p:nvPr/>
        </p:nvSpPr>
        <p:spPr>
          <a:xfrm>
            <a:off x="7061890" y="3867150"/>
            <a:ext cx="1717137" cy="261610"/>
          </a:xfrm>
          <a:prstGeom prst="rect">
            <a:avLst/>
          </a:prstGeom>
          <a:noFill/>
        </p:spPr>
        <p:txBody>
          <a:bodyPr wrap="none" rtlCol="0">
            <a:spAutoFit/>
          </a:bodyPr>
          <a:lstStyle/>
          <a:p>
            <a:r>
              <a:rPr lang="en-US" sz="1100" b="1" dirty="0" smtClean="0">
                <a:solidFill>
                  <a:schemeClr val="bg1"/>
                </a:solidFill>
                <a:latin typeface="Montserrat" pitchFamily="2" charset="0"/>
              </a:rPr>
              <a:t>Contact information</a:t>
            </a:r>
            <a:r>
              <a:rPr lang="en-US" sz="1100" dirty="0" smtClean="0">
                <a:solidFill>
                  <a:schemeClr val="bg1"/>
                </a:solidFill>
                <a:latin typeface="Montserrat" pitchFamily="2" charset="0"/>
              </a:rPr>
              <a:t>:</a:t>
            </a:r>
            <a:endParaRPr lang="en-US" sz="1100" dirty="0">
              <a:solidFill>
                <a:schemeClr val="bg1"/>
              </a:solidFill>
              <a:latin typeface="Montserrat" pitchFamily="2" charset="0"/>
            </a:endParaRPr>
          </a:p>
        </p:txBody>
      </p:sp>
      <p:sp>
        <p:nvSpPr>
          <p:cNvPr id="13" name="TextBox 12"/>
          <p:cNvSpPr txBox="1"/>
          <p:nvPr/>
        </p:nvSpPr>
        <p:spPr>
          <a:xfrm>
            <a:off x="5867401" y="4128760"/>
            <a:ext cx="3297384" cy="415498"/>
          </a:xfrm>
          <a:prstGeom prst="rect">
            <a:avLst/>
          </a:prstGeom>
          <a:noFill/>
        </p:spPr>
        <p:txBody>
          <a:bodyPr wrap="square" rtlCol="0">
            <a:spAutoFit/>
          </a:bodyPr>
          <a:lstStyle/>
          <a:p>
            <a:r>
              <a:rPr lang="en-US" sz="1050" dirty="0" smtClean="0">
                <a:solidFill>
                  <a:schemeClr val="bg1"/>
                </a:solidFill>
                <a:latin typeface="Montserrat" pitchFamily="2" charset="0"/>
              </a:rPr>
              <a:t>Telegram group : https://t.me/joinchat/pLGA6juL48xkZTc1 </a:t>
            </a:r>
            <a:endParaRPr lang="en-US" sz="1050" dirty="0">
              <a:solidFill>
                <a:schemeClr val="bg1"/>
              </a:solidFill>
              <a:latin typeface="Montserrat" pitchFamily="2" charset="0"/>
            </a:endParaRPr>
          </a:p>
        </p:txBody>
      </p:sp>
      <p:sp>
        <p:nvSpPr>
          <p:cNvPr id="14" name="TextBox 13"/>
          <p:cNvSpPr txBox="1"/>
          <p:nvPr/>
        </p:nvSpPr>
        <p:spPr>
          <a:xfrm>
            <a:off x="5573249" y="4580042"/>
            <a:ext cx="3584636" cy="253916"/>
          </a:xfrm>
          <a:prstGeom prst="rect">
            <a:avLst/>
          </a:prstGeom>
          <a:noFill/>
        </p:spPr>
        <p:txBody>
          <a:bodyPr wrap="none" rtlCol="0">
            <a:spAutoFit/>
          </a:bodyPr>
          <a:lstStyle/>
          <a:p>
            <a:r>
              <a:rPr lang="en-US" sz="1050" dirty="0" err="1" smtClean="0">
                <a:solidFill>
                  <a:schemeClr val="bg1"/>
                </a:solidFill>
                <a:latin typeface="Montserrat" pitchFamily="2" charset="0"/>
              </a:rPr>
              <a:t>Youtube</a:t>
            </a:r>
            <a:r>
              <a:rPr lang="en-US" sz="1050" dirty="0" smtClean="0">
                <a:solidFill>
                  <a:schemeClr val="bg1"/>
                </a:solidFill>
                <a:latin typeface="Montserrat" pitchFamily="2" charset="0"/>
              </a:rPr>
              <a:t> :https://www.youtube.com/c/8xTRADING </a:t>
            </a:r>
            <a:endParaRPr lang="en-US" sz="1050" dirty="0">
              <a:solidFill>
                <a:schemeClr val="bg1"/>
              </a:solidFill>
              <a:latin typeface="Montserrat" pitchFamily="2" charset="0"/>
            </a:endParaRPr>
          </a:p>
        </p:txBody>
      </p:sp>
    </p:spTree>
    <p:extLst>
      <p:ext uri="{BB962C8B-B14F-4D97-AF65-F5344CB8AC3E}">
        <p14:creationId xmlns:p14="http://schemas.microsoft.com/office/powerpoint/2010/main" val="14901798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0" y="1"/>
            <a:ext cx="5715000" cy="507831"/>
          </a:xfrm>
          <a:prstGeom prst="rect">
            <a:avLst/>
          </a:prstGeom>
        </p:spPr>
        <p:txBody>
          <a:bodyPr wrap="square">
            <a:spAutoFit/>
          </a:bodyPr>
          <a:lstStyle/>
          <a:p>
            <a:r>
              <a:rPr lang="vi-VN" sz="900" b="1">
                <a:solidFill>
                  <a:srgbClr val="00B0F0"/>
                </a:solidFill>
                <a:latin typeface="Montserrat" pitchFamily="2" charset="0"/>
              </a:rPr>
              <a:t>PSY — </a:t>
            </a:r>
            <a:r>
              <a:rPr lang="en-US" sz="900" b="1" smtClean="0">
                <a:solidFill>
                  <a:srgbClr val="00B0F0"/>
                </a:solidFill>
                <a:latin typeface="Montserrat" pitchFamily="2" charset="0"/>
              </a:rPr>
              <a:t>N</a:t>
            </a:r>
            <a:r>
              <a:rPr lang="vi-VN" sz="900" b="1" smtClean="0">
                <a:solidFill>
                  <a:srgbClr val="00B0F0"/>
                </a:solidFill>
                <a:latin typeface="Montserrat" pitchFamily="2" charset="0"/>
              </a:rPr>
              <a:t>guồn </a:t>
            </a:r>
            <a:r>
              <a:rPr lang="vi-VN" sz="900" b="1">
                <a:solidFill>
                  <a:srgbClr val="00B0F0"/>
                </a:solidFill>
                <a:latin typeface="Montserrat" pitchFamily="2" charset="0"/>
              </a:rPr>
              <a:t>cung sơ bộ</a:t>
            </a:r>
            <a:r>
              <a:rPr lang="vi-VN" sz="900">
                <a:latin typeface="Montserrat" pitchFamily="2" charset="0"/>
              </a:rPr>
              <a:t>, nơi mà nhà điều hành tổng hợp bắt đầu bán sản phẩm sau khi giá di chuyển tăng </a:t>
            </a:r>
            <a:r>
              <a:rPr lang="vi-VN" sz="900" smtClean="0">
                <a:latin typeface="Montserrat" pitchFamily="2" charset="0"/>
              </a:rPr>
              <a:t>mạnh</a:t>
            </a:r>
            <a:r>
              <a:rPr lang="en-US" sz="900" smtClean="0">
                <a:latin typeface="Montserrat" pitchFamily="2" charset="0"/>
              </a:rPr>
              <a:t> kèm </a:t>
            </a:r>
            <a:r>
              <a:rPr lang="en-US" sz="900">
                <a:latin typeface="Montserrat" pitchFamily="2" charset="0"/>
              </a:rPr>
              <a:t>k</a:t>
            </a:r>
            <a:r>
              <a:rPr lang="vi-VN" sz="900" smtClean="0">
                <a:latin typeface="Montserrat" pitchFamily="2" charset="0"/>
              </a:rPr>
              <a:t>hối </a:t>
            </a:r>
            <a:r>
              <a:rPr lang="vi-VN" sz="900">
                <a:latin typeface="Montserrat" pitchFamily="2" charset="0"/>
              </a:rPr>
              <a:t>lượng </a:t>
            </a:r>
            <a:r>
              <a:rPr lang="vi-VN" sz="900" smtClean="0">
                <a:latin typeface="Montserrat" pitchFamily="2" charset="0"/>
              </a:rPr>
              <a:t>và </a:t>
            </a:r>
            <a:r>
              <a:rPr lang="vi-VN" sz="900">
                <a:latin typeface="Montserrat" pitchFamily="2" charset="0"/>
              </a:rPr>
              <a:t>chênh lệch giá mở rộng, báo hiệu rằng một sự thay đổi </a:t>
            </a:r>
            <a:r>
              <a:rPr lang="vi-VN" sz="900" smtClean="0">
                <a:latin typeface="Montserrat" pitchFamily="2" charset="0"/>
              </a:rPr>
              <a:t>trong</a:t>
            </a:r>
            <a:r>
              <a:rPr lang="en-US" sz="900" smtClean="0">
                <a:latin typeface="Montserrat" pitchFamily="2" charset="0"/>
              </a:rPr>
              <a:t> </a:t>
            </a:r>
            <a:r>
              <a:rPr lang="vi-VN" sz="900" smtClean="0">
                <a:latin typeface="Montserrat" pitchFamily="2" charset="0"/>
              </a:rPr>
              <a:t>xu </a:t>
            </a:r>
            <a:r>
              <a:rPr lang="vi-VN" sz="900">
                <a:latin typeface="Montserrat" pitchFamily="2" charset="0"/>
              </a:rPr>
              <a:t>hướng có thể đang đến gần.</a:t>
            </a:r>
            <a:endParaRPr lang="en-US" sz="900">
              <a:latin typeface="Montserrat" pitchFamily="2" charset="0"/>
            </a:endParaRPr>
          </a:p>
        </p:txBody>
      </p:sp>
      <p:sp>
        <p:nvSpPr>
          <p:cNvPr id="3" name="Rectangle 2"/>
          <p:cNvSpPr/>
          <p:nvPr/>
        </p:nvSpPr>
        <p:spPr>
          <a:xfrm>
            <a:off x="3429000" y="483746"/>
            <a:ext cx="5715000" cy="646331"/>
          </a:xfrm>
          <a:prstGeom prst="rect">
            <a:avLst/>
          </a:prstGeom>
        </p:spPr>
        <p:txBody>
          <a:bodyPr wrap="square">
            <a:spAutoFit/>
          </a:bodyPr>
          <a:lstStyle/>
          <a:p>
            <a:r>
              <a:rPr lang="vi-VN" sz="900" b="1" smtClean="0">
                <a:solidFill>
                  <a:srgbClr val="00B0F0"/>
                </a:solidFill>
                <a:latin typeface="Montserrat" pitchFamily="2" charset="0"/>
              </a:rPr>
              <a:t>BC</a:t>
            </a:r>
            <a:r>
              <a:rPr lang="en-US" sz="900" b="1" smtClean="0">
                <a:solidFill>
                  <a:srgbClr val="00B0F0"/>
                </a:solidFill>
                <a:latin typeface="Montserrat" pitchFamily="2" charset="0"/>
              </a:rPr>
              <a:t>LX</a:t>
            </a:r>
            <a:r>
              <a:rPr lang="vi-VN" sz="900" b="1" smtClean="0">
                <a:solidFill>
                  <a:srgbClr val="00B0F0"/>
                </a:solidFill>
                <a:latin typeface="Montserrat" pitchFamily="2" charset="0"/>
              </a:rPr>
              <a:t> </a:t>
            </a:r>
            <a:r>
              <a:rPr lang="vi-VN" sz="900" b="1">
                <a:solidFill>
                  <a:srgbClr val="00B0F0"/>
                </a:solidFill>
                <a:latin typeface="Montserrat" pitchFamily="2" charset="0"/>
              </a:rPr>
              <a:t>— Cao trào mua</a:t>
            </a:r>
            <a:r>
              <a:rPr lang="vi-VN" sz="900">
                <a:latin typeface="Montserrat" pitchFamily="2" charset="0"/>
              </a:rPr>
              <a:t>, trong đó thường có sự gia tăng rõ rệt về khối lượng và chênh lệch </a:t>
            </a:r>
            <a:r>
              <a:rPr lang="vi-VN" sz="900" smtClean="0">
                <a:latin typeface="Montserrat" pitchFamily="2" charset="0"/>
              </a:rPr>
              <a:t>giá</a:t>
            </a:r>
            <a:r>
              <a:rPr lang="en-US" sz="900" smtClean="0">
                <a:latin typeface="Montserrat" pitchFamily="2" charset="0"/>
              </a:rPr>
              <a:t> tăng</a:t>
            </a:r>
            <a:r>
              <a:rPr lang="vi-VN" sz="900" smtClean="0">
                <a:latin typeface="Montserrat" pitchFamily="2" charset="0"/>
              </a:rPr>
              <a:t>. </a:t>
            </a:r>
            <a:r>
              <a:rPr lang="vi-VN" sz="900">
                <a:latin typeface="Montserrat" pitchFamily="2" charset="0"/>
              </a:rPr>
              <a:t>Lực mua đạt đỉnh điểm, </a:t>
            </a:r>
            <a:r>
              <a:rPr lang="en-US" sz="900" smtClean="0">
                <a:latin typeface="Montserrat" pitchFamily="2" charset="0"/>
              </a:rPr>
              <a:t>nơi mà </a:t>
            </a:r>
            <a:r>
              <a:rPr lang="vi-VN" sz="900" smtClean="0">
                <a:latin typeface="Montserrat" pitchFamily="2" charset="0"/>
              </a:rPr>
              <a:t>công </a:t>
            </a:r>
            <a:r>
              <a:rPr lang="vi-VN" sz="900">
                <a:latin typeface="Montserrat" pitchFamily="2" charset="0"/>
              </a:rPr>
              <a:t>chúng bắt đầu đổ xô </a:t>
            </a:r>
            <a:r>
              <a:rPr lang="vi-VN" sz="900" smtClean="0">
                <a:latin typeface="Montserrat" pitchFamily="2" charset="0"/>
              </a:rPr>
              <a:t>mua</a:t>
            </a:r>
            <a:r>
              <a:rPr lang="en-US" sz="900" smtClean="0">
                <a:latin typeface="Montserrat" pitchFamily="2" charset="0"/>
              </a:rPr>
              <a:t> </a:t>
            </a:r>
            <a:r>
              <a:rPr lang="vi-VN" sz="900">
                <a:latin typeface="Montserrat" pitchFamily="2" charset="0"/>
              </a:rPr>
              <a:t>vào </a:t>
            </a:r>
            <a:r>
              <a:rPr lang="en-US" sz="900" smtClean="0">
                <a:latin typeface="Montserrat" pitchFamily="2" charset="0"/>
              </a:rPr>
              <a:t>đây</a:t>
            </a:r>
            <a:r>
              <a:rPr lang="vi-VN" sz="900" smtClean="0">
                <a:latin typeface="Montserrat" pitchFamily="2" charset="0"/>
              </a:rPr>
              <a:t> </a:t>
            </a:r>
            <a:r>
              <a:rPr lang="vi-VN" sz="900">
                <a:latin typeface="Montserrat" pitchFamily="2" charset="0"/>
              </a:rPr>
              <a:t>là thời điểm mà </a:t>
            </a:r>
            <a:r>
              <a:rPr lang="en-US" sz="900" smtClean="0">
                <a:latin typeface="Montserrat" pitchFamily="2" charset="0"/>
              </a:rPr>
              <a:t>thị trường có rất nhiều tin tức tốt được tung ra. Các nhà điều hành lợi dụng nó để bán ra các sản phẩm của mình . </a:t>
            </a:r>
            <a:endParaRPr lang="en-US" sz="900">
              <a:latin typeface="Montserrat" pitchFamily="2" charset="0"/>
            </a:endParaRPr>
          </a:p>
        </p:txBody>
      </p:sp>
      <p:sp>
        <p:nvSpPr>
          <p:cNvPr id="4" name="Rectangle 3"/>
          <p:cNvSpPr/>
          <p:nvPr/>
        </p:nvSpPr>
        <p:spPr>
          <a:xfrm>
            <a:off x="3429000" y="1235318"/>
            <a:ext cx="5715000" cy="507831"/>
          </a:xfrm>
          <a:prstGeom prst="rect">
            <a:avLst/>
          </a:prstGeom>
        </p:spPr>
        <p:txBody>
          <a:bodyPr wrap="square">
            <a:spAutoFit/>
          </a:bodyPr>
          <a:lstStyle/>
          <a:p>
            <a:r>
              <a:rPr lang="vi-VN" sz="900" b="1">
                <a:solidFill>
                  <a:srgbClr val="00B0F0"/>
                </a:solidFill>
                <a:latin typeface="Montserrat" pitchFamily="2" charset="0"/>
              </a:rPr>
              <a:t>AR — Phản ứng tự động</a:t>
            </a:r>
            <a:r>
              <a:rPr lang="vi-VN" sz="900">
                <a:latin typeface="Montserrat" pitchFamily="2" charset="0"/>
              </a:rPr>
              <a:t>. Với </a:t>
            </a:r>
            <a:r>
              <a:rPr lang="en-US" sz="900" smtClean="0">
                <a:latin typeface="Montserrat" pitchFamily="2" charset="0"/>
              </a:rPr>
              <a:t>lực</a:t>
            </a:r>
            <a:r>
              <a:rPr lang="vi-VN" sz="900" smtClean="0">
                <a:latin typeface="Montserrat" pitchFamily="2" charset="0"/>
              </a:rPr>
              <a:t> </a:t>
            </a:r>
            <a:r>
              <a:rPr lang="vi-VN" sz="900">
                <a:latin typeface="Montserrat" pitchFamily="2" charset="0"/>
              </a:rPr>
              <a:t>mua dữ dội đã giảm đi đáng kể sau </a:t>
            </a:r>
            <a:r>
              <a:rPr lang="vi-VN" sz="900" b="1" smtClean="0">
                <a:latin typeface="Montserrat" pitchFamily="2" charset="0"/>
              </a:rPr>
              <a:t>BC</a:t>
            </a:r>
            <a:r>
              <a:rPr lang="en-US" sz="900" b="1" smtClean="0">
                <a:latin typeface="Montserrat" pitchFamily="2" charset="0"/>
              </a:rPr>
              <a:t>LX</a:t>
            </a:r>
            <a:r>
              <a:rPr lang="vi-VN" sz="900" b="1" smtClean="0">
                <a:latin typeface="Montserrat" pitchFamily="2" charset="0"/>
              </a:rPr>
              <a:t> </a:t>
            </a:r>
            <a:r>
              <a:rPr lang="vi-VN" sz="900">
                <a:latin typeface="Montserrat" pitchFamily="2" charset="0"/>
              </a:rPr>
              <a:t>và sự </a:t>
            </a:r>
            <a:r>
              <a:rPr lang="en-US" sz="900" smtClean="0">
                <a:latin typeface="Montserrat" pitchFamily="2" charset="0"/>
              </a:rPr>
              <a:t>chốt lời của các nhà điều hành tổng hợp và các nhà giao dịch nhỏ lẻ tham giá bán theo</a:t>
            </a:r>
            <a:r>
              <a:rPr lang="vi-VN" sz="900" smtClean="0">
                <a:latin typeface="Montserrat" pitchFamily="2" charset="0"/>
              </a:rPr>
              <a:t>. </a:t>
            </a:r>
            <a:r>
              <a:rPr lang="vi-VN" sz="900">
                <a:latin typeface="Montserrat" pitchFamily="2" charset="0"/>
              </a:rPr>
              <a:t>Mức thấp của đợt bán tháo này giúp xác định ranh </a:t>
            </a:r>
            <a:r>
              <a:rPr lang="vi-VN" sz="900" smtClean="0">
                <a:latin typeface="Montserrat" pitchFamily="2" charset="0"/>
              </a:rPr>
              <a:t>giới</a:t>
            </a:r>
            <a:r>
              <a:rPr lang="en-US" sz="900" smtClean="0">
                <a:latin typeface="Montserrat" pitchFamily="2" charset="0"/>
              </a:rPr>
              <a:t> biên</a:t>
            </a:r>
            <a:r>
              <a:rPr lang="vi-VN" sz="900" smtClean="0">
                <a:latin typeface="Montserrat" pitchFamily="2" charset="0"/>
              </a:rPr>
              <a:t> </a:t>
            </a:r>
            <a:r>
              <a:rPr lang="vi-VN" sz="900">
                <a:latin typeface="Montserrat" pitchFamily="2" charset="0"/>
              </a:rPr>
              <a:t>dưới của phân phối </a:t>
            </a:r>
            <a:r>
              <a:rPr lang="vi-VN" sz="900" b="1">
                <a:latin typeface="Montserrat" pitchFamily="2" charset="0"/>
              </a:rPr>
              <a:t>TR</a:t>
            </a:r>
            <a:r>
              <a:rPr lang="vi-VN" sz="900">
                <a:latin typeface="Montserrat" pitchFamily="2" charset="0"/>
              </a:rPr>
              <a:t>.</a:t>
            </a:r>
            <a:endParaRPr lang="en-US" sz="900">
              <a:latin typeface="Montserrat" pitchFamily="2" charset="0"/>
            </a:endParaRPr>
          </a:p>
        </p:txBody>
      </p:sp>
      <p:sp>
        <p:nvSpPr>
          <p:cNvPr id="5" name="Rectangle 4"/>
          <p:cNvSpPr/>
          <p:nvPr/>
        </p:nvSpPr>
        <p:spPr>
          <a:xfrm>
            <a:off x="3429000" y="1743149"/>
            <a:ext cx="5715000" cy="923330"/>
          </a:xfrm>
          <a:prstGeom prst="rect">
            <a:avLst/>
          </a:prstGeom>
        </p:spPr>
        <p:txBody>
          <a:bodyPr wrap="square">
            <a:spAutoFit/>
          </a:bodyPr>
          <a:lstStyle/>
          <a:p>
            <a:r>
              <a:rPr lang="vi-VN" sz="900" b="1">
                <a:solidFill>
                  <a:srgbClr val="00B0F0"/>
                </a:solidFill>
                <a:latin typeface="Montserrat" pitchFamily="2" charset="0"/>
              </a:rPr>
              <a:t>ST - </a:t>
            </a:r>
            <a:r>
              <a:rPr lang="en-US" sz="900" b="1">
                <a:solidFill>
                  <a:srgbClr val="00B0F0"/>
                </a:solidFill>
                <a:latin typeface="Montserrat" pitchFamily="2" charset="0"/>
              </a:rPr>
              <a:t>T</a:t>
            </a:r>
            <a:r>
              <a:rPr lang="vi-VN" sz="900" b="1" smtClean="0">
                <a:solidFill>
                  <a:srgbClr val="00B0F0"/>
                </a:solidFill>
                <a:latin typeface="Montserrat" pitchFamily="2" charset="0"/>
              </a:rPr>
              <a:t>hử </a:t>
            </a:r>
            <a:r>
              <a:rPr lang="vi-VN" sz="900" b="1">
                <a:solidFill>
                  <a:srgbClr val="00B0F0"/>
                </a:solidFill>
                <a:latin typeface="Montserrat" pitchFamily="2" charset="0"/>
              </a:rPr>
              <a:t>nghiệm thứ cấp</a:t>
            </a:r>
            <a:r>
              <a:rPr lang="vi-VN" sz="900">
                <a:latin typeface="Montserrat" pitchFamily="2" charset="0"/>
              </a:rPr>
              <a:t>, nơi mà giá quay lại khu vực </a:t>
            </a:r>
            <a:r>
              <a:rPr lang="vi-VN" sz="900" b="1">
                <a:latin typeface="Montserrat" pitchFamily="2" charset="0"/>
              </a:rPr>
              <a:t>BCLX</a:t>
            </a:r>
            <a:r>
              <a:rPr lang="vi-VN" sz="900">
                <a:latin typeface="Montserrat" pitchFamily="2" charset="0"/>
              </a:rPr>
              <a:t> để kiểm tra sự cân bằng cung / cầu tại các mức giá này. Đỉnh tiếp theo được xác </a:t>
            </a:r>
            <a:r>
              <a:rPr lang="vi-VN" sz="900" smtClean="0">
                <a:latin typeface="Montserrat" pitchFamily="2" charset="0"/>
              </a:rPr>
              <a:t>nhận</a:t>
            </a:r>
            <a:r>
              <a:rPr lang="en-US" sz="900" smtClean="0">
                <a:latin typeface="Montserrat" pitchFamily="2" charset="0"/>
              </a:rPr>
              <a:t> </a:t>
            </a:r>
            <a:r>
              <a:rPr lang="vi-VN" sz="900" smtClean="0">
                <a:latin typeface="Montserrat" pitchFamily="2" charset="0"/>
              </a:rPr>
              <a:t>, </a:t>
            </a:r>
            <a:r>
              <a:rPr lang="en-US" sz="900" smtClean="0">
                <a:latin typeface="Montserrat" pitchFamily="2" charset="0"/>
              </a:rPr>
              <a:t>thường </a:t>
            </a:r>
            <a:r>
              <a:rPr lang="vi-VN" sz="900" smtClean="0">
                <a:latin typeface="Montserrat" pitchFamily="2" charset="0"/>
              </a:rPr>
              <a:t>cung </a:t>
            </a:r>
            <a:r>
              <a:rPr lang="vi-VN" sz="900">
                <a:latin typeface="Montserrat" pitchFamily="2" charset="0"/>
              </a:rPr>
              <a:t>phải lớn hơn </a:t>
            </a:r>
            <a:r>
              <a:rPr lang="vi-VN" sz="900" smtClean="0">
                <a:latin typeface="Montserrat" pitchFamily="2" charset="0"/>
              </a:rPr>
              <a:t>cầu</a:t>
            </a:r>
            <a:r>
              <a:rPr lang="en-US" sz="900" smtClean="0">
                <a:latin typeface="Montserrat" pitchFamily="2" charset="0"/>
              </a:rPr>
              <a:t> để CO giữ giá trong TR</a:t>
            </a:r>
            <a:r>
              <a:rPr lang="vi-VN" sz="900" smtClean="0">
                <a:latin typeface="Montserrat" pitchFamily="2" charset="0"/>
              </a:rPr>
              <a:t>, </a:t>
            </a:r>
            <a:r>
              <a:rPr lang="vi-VN" sz="900">
                <a:latin typeface="Montserrat" pitchFamily="2" charset="0"/>
              </a:rPr>
              <a:t>do đó khối lượng và mức chênh lệch sẽ giảm khi giá tiếp cận vùng kháng cự của </a:t>
            </a:r>
            <a:r>
              <a:rPr lang="vi-VN" sz="900" b="1" smtClean="0">
                <a:latin typeface="Montserrat" pitchFamily="2" charset="0"/>
              </a:rPr>
              <a:t>BC</a:t>
            </a:r>
            <a:r>
              <a:rPr lang="en-US" sz="900" b="1" smtClean="0">
                <a:latin typeface="Montserrat" pitchFamily="2" charset="0"/>
              </a:rPr>
              <a:t>LX</a:t>
            </a:r>
            <a:r>
              <a:rPr lang="vi-VN" sz="900" b="1" smtClean="0">
                <a:latin typeface="Montserrat" pitchFamily="2" charset="0"/>
              </a:rPr>
              <a:t> </a:t>
            </a:r>
            <a:r>
              <a:rPr lang="vi-VN" sz="900" b="1">
                <a:latin typeface="Montserrat" pitchFamily="2" charset="0"/>
              </a:rPr>
              <a:t>thành lập </a:t>
            </a:r>
            <a:r>
              <a:rPr lang="vi-VN" sz="900" b="1" smtClean="0">
                <a:latin typeface="Montserrat" pitchFamily="2" charset="0"/>
              </a:rPr>
              <a:t>ST</a:t>
            </a:r>
            <a:r>
              <a:rPr lang="en-US" sz="900" b="1" smtClean="0">
                <a:latin typeface="Montserrat" pitchFamily="2" charset="0"/>
              </a:rPr>
              <a:t>[A]</a:t>
            </a:r>
            <a:r>
              <a:rPr lang="vi-VN" sz="900" smtClean="0">
                <a:latin typeface="Montserrat" pitchFamily="2" charset="0"/>
              </a:rPr>
              <a:t>. </a:t>
            </a:r>
            <a:r>
              <a:rPr lang="vi-VN" sz="900" b="1" smtClean="0">
                <a:latin typeface="Montserrat" pitchFamily="2" charset="0"/>
              </a:rPr>
              <a:t>ST</a:t>
            </a:r>
            <a:r>
              <a:rPr lang="en-US" sz="900" b="1" smtClean="0">
                <a:latin typeface="Montserrat" pitchFamily="2" charset="0"/>
              </a:rPr>
              <a:t>[B]</a:t>
            </a:r>
            <a:r>
              <a:rPr lang="vi-VN" sz="900" smtClean="0">
                <a:latin typeface="Montserrat" pitchFamily="2" charset="0"/>
              </a:rPr>
              <a:t> </a:t>
            </a:r>
            <a:r>
              <a:rPr lang="vi-VN" sz="900">
                <a:latin typeface="Montserrat" pitchFamily="2" charset="0"/>
              </a:rPr>
              <a:t>có thể ở dạng khác tạo ra (</a:t>
            </a:r>
            <a:r>
              <a:rPr lang="vi-VN" sz="900" b="1">
                <a:latin typeface="Montserrat" pitchFamily="2" charset="0"/>
              </a:rPr>
              <a:t>UT</a:t>
            </a:r>
            <a:r>
              <a:rPr lang="vi-VN" sz="900">
                <a:latin typeface="Montserrat" pitchFamily="2" charset="0"/>
              </a:rPr>
              <a:t>), trong đó giá di chuyển trên mức kháng cự  </a:t>
            </a:r>
            <a:r>
              <a:rPr lang="vi-VN" sz="900" b="1">
                <a:latin typeface="Montserrat" pitchFamily="2" charset="0"/>
              </a:rPr>
              <a:t>BCLX</a:t>
            </a:r>
            <a:r>
              <a:rPr lang="vi-VN" sz="900">
                <a:latin typeface="Montserrat" pitchFamily="2" charset="0"/>
              </a:rPr>
              <a:t> và </a:t>
            </a:r>
            <a:r>
              <a:rPr lang="vi-VN" sz="900" smtClean="0">
                <a:latin typeface="Montserrat" pitchFamily="2" charset="0"/>
              </a:rPr>
              <a:t>nhanh </a:t>
            </a:r>
            <a:r>
              <a:rPr lang="vi-VN" sz="900">
                <a:latin typeface="Montserrat" pitchFamily="2" charset="0"/>
              </a:rPr>
              <a:t>chóng đảo chiều để đóng dưới mức kháng cự. </a:t>
            </a:r>
            <a:r>
              <a:rPr lang="vi-VN" sz="900" b="1">
                <a:latin typeface="Montserrat" pitchFamily="2" charset="0"/>
              </a:rPr>
              <a:t>Sau UT</a:t>
            </a:r>
            <a:r>
              <a:rPr lang="vi-VN" sz="900">
                <a:latin typeface="Montserrat" pitchFamily="2" charset="0"/>
              </a:rPr>
              <a:t>, giá thường kiểm tra </a:t>
            </a:r>
            <a:r>
              <a:rPr lang="en-US" sz="900" smtClean="0">
                <a:latin typeface="Montserrat" pitchFamily="2" charset="0"/>
              </a:rPr>
              <a:t>biên</a:t>
            </a:r>
            <a:r>
              <a:rPr lang="vi-VN" sz="900" smtClean="0">
                <a:latin typeface="Montserrat" pitchFamily="2" charset="0"/>
              </a:rPr>
              <a:t> </a:t>
            </a:r>
            <a:r>
              <a:rPr lang="vi-VN" sz="900">
                <a:latin typeface="Montserrat" pitchFamily="2" charset="0"/>
              </a:rPr>
              <a:t>giới dưới của TR.</a:t>
            </a:r>
            <a:endParaRPr lang="en-US" sz="900">
              <a:latin typeface="Montserrat" pitchFamily="2" charset="0"/>
            </a:endParaRPr>
          </a:p>
        </p:txBody>
      </p:sp>
      <p:sp>
        <p:nvSpPr>
          <p:cNvPr id="6" name="Rectangle 5"/>
          <p:cNvSpPr/>
          <p:nvPr/>
        </p:nvSpPr>
        <p:spPr>
          <a:xfrm>
            <a:off x="3429000" y="2628494"/>
            <a:ext cx="5715000" cy="646331"/>
          </a:xfrm>
          <a:prstGeom prst="rect">
            <a:avLst/>
          </a:prstGeom>
        </p:spPr>
        <p:txBody>
          <a:bodyPr wrap="square">
            <a:spAutoFit/>
          </a:bodyPr>
          <a:lstStyle/>
          <a:p>
            <a:r>
              <a:rPr lang="vi-VN" sz="900" b="1">
                <a:solidFill>
                  <a:srgbClr val="00B0F0"/>
                </a:solidFill>
                <a:latin typeface="Montserrat" pitchFamily="2" charset="0"/>
              </a:rPr>
              <a:t>SOW — Dấu </a:t>
            </a:r>
            <a:r>
              <a:rPr lang="vi-VN" sz="900" b="1" smtClean="0">
                <a:solidFill>
                  <a:srgbClr val="00B0F0"/>
                </a:solidFill>
                <a:latin typeface="Montserrat" pitchFamily="2" charset="0"/>
              </a:rPr>
              <a:t>h</a:t>
            </a:r>
            <a:r>
              <a:rPr lang="en-US" sz="900" b="1" smtClean="0">
                <a:solidFill>
                  <a:srgbClr val="00B0F0"/>
                </a:solidFill>
                <a:latin typeface="Montserrat" pitchFamily="2" charset="0"/>
              </a:rPr>
              <a:t>i</a:t>
            </a:r>
            <a:r>
              <a:rPr lang="vi-VN" sz="900" b="1" smtClean="0">
                <a:solidFill>
                  <a:srgbClr val="00B0F0"/>
                </a:solidFill>
                <a:latin typeface="Montserrat" pitchFamily="2" charset="0"/>
              </a:rPr>
              <a:t>ệu </a:t>
            </a:r>
            <a:r>
              <a:rPr lang="vi-VN" sz="900" b="1">
                <a:solidFill>
                  <a:srgbClr val="00B0F0"/>
                </a:solidFill>
                <a:latin typeface="Montserrat" pitchFamily="2" charset="0"/>
              </a:rPr>
              <a:t>của sự suy </a:t>
            </a:r>
            <a:r>
              <a:rPr lang="vi-VN" sz="900" b="1" smtClean="0">
                <a:solidFill>
                  <a:srgbClr val="00B0F0"/>
                </a:solidFill>
                <a:latin typeface="Montserrat" pitchFamily="2" charset="0"/>
              </a:rPr>
              <a:t>yếu</a:t>
            </a:r>
            <a:r>
              <a:rPr lang="en-US" sz="900" b="1" smtClean="0">
                <a:solidFill>
                  <a:srgbClr val="00B0F0"/>
                </a:solidFill>
                <a:latin typeface="Montserrat" pitchFamily="2" charset="0"/>
              </a:rPr>
              <a:t> giá</a:t>
            </a:r>
            <a:r>
              <a:rPr lang="vi-VN" sz="900" smtClean="0">
                <a:latin typeface="Montserrat" pitchFamily="2" charset="0"/>
              </a:rPr>
              <a:t>, </a:t>
            </a:r>
            <a:r>
              <a:rPr lang="vi-VN" sz="900">
                <a:latin typeface="Montserrat" pitchFamily="2" charset="0"/>
              </a:rPr>
              <a:t>có thể quan sát được </a:t>
            </a:r>
            <a:r>
              <a:rPr lang="vi-VN" sz="900" smtClean="0">
                <a:latin typeface="Montserrat" pitchFamily="2" charset="0"/>
              </a:rPr>
              <a:t>khi</a:t>
            </a:r>
            <a:r>
              <a:rPr lang="en-US" sz="900" smtClean="0">
                <a:latin typeface="Montserrat" pitchFamily="2" charset="0"/>
              </a:rPr>
              <a:t> giá</a:t>
            </a:r>
            <a:r>
              <a:rPr lang="vi-VN" sz="900" smtClean="0">
                <a:latin typeface="Montserrat" pitchFamily="2" charset="0"/>
              </a:rPr>
              <a:t> </a:t>
            </a:r>
            <a:r>
              <a:rPr lang="vi-VN" sz="900">
                <a:latin typeface="Montserrat" pitchFamily="2" charset="0"/>
              </a:rPr>
              <a:t>di </a:t>
            </a:r>
            <a:r>
              <a:rPr lang="vi-VN" sz="900" smtClean="0">
                <a:latin typeface="Montserrat" pitchFamily="2" charset="0"/>
              </a:rPr>
              <a:t>chuyển</a:t>
            </a:r>
            <a:r>
              <a:rPr lang="en-US" sz="900" smtClean="0">
                <a:latin typeface="Montserrat" pitchFamily="2" charset="0"/>
              </a:rPr>
              <a:t> xuống</a:t>
            </a:r>
            <a:r>
              <a:rPr lang="vi-VN" sz="900" smtClean="0">
                <a:latin typeface="Montserrat" pitchFamily="2" charset="0"/>
              </a:rPr>
              <a:t> </a:t>
            </a:r>
            <a:r>
              <a:rPr lang="en-US" sz="900" smtClean="0">
                <a:latin typeface="Montserrat" pitchFamily="2" charset="0"/>
              </a:rPr>
              <a:t>biên</a:t>
            </a:r>
            <a:r>
              <a:rPr lang="vi-VN" sz="900" smtClean="0">
                <a:latin typeface="Montserrat" pitchFamily="2" charset="0"/>
              </a:rPr>
              <a:t> </a:t>
            </a:r>
            <a:r>
              <a:rPr lang="vi-VN" sz="900">
                <a:latin typeface="Montserrat" pitchFamily="2" charset="0"/>
              </a:rPr>
              <a:t>dưới </a:t>
            </a:r>
            <a:r>
              <a:rPr lang="vi-VN" sz="900" b="1">
                <a:latin typeface="Montserrat" pitchFamily="2" charset="0"/>
              </a:rPr>
              <a:t>của TR</a:t>
            </a:r>
            <a:r>
              <a:rPr lang="vi-VN" sz="900">
                <a:latin typeface="Montserrat" pitchFamily="2" charset="0"/>
              </a:rPr>
              <a:t>, </a:t>
            </a:r>
            <a:r>
              <a:rPr lang="vi-VN" sz="900" smtClean="0">
                <a:latin typeface="Montserrat" pitchFamily="2" charset="0"/>
              </a:rPr>
              <a:t>thường</a:t>
            </a:r>
            <a:r>
              <a:rPr lang="en-US" sz="900" smtClean="0">
                <a:latin typeface="Montserrat" pitchFamily="2" charset="0"/>
              </a:rPr>
              <a:t> </a:t>
            </a:r>
            <a:r>
              <a:rPr lang="vi-VN" sz="900" smtClean="0">
                <a:latin typeface="Montserrat" pitchFamily="2" charset="0"/>
              </a:rPr>
              <a:t>xảy</a:t>
            </a:r>
            <a:r>
              <a:rPr lang="en-US" sz="900" smtClean="0">
                <a:latin typeface="Montserrat" pitchFamily="2" charset="0"/>
              </a:rPr>
              <a:t> </a:t>
            </a:r>
            <a:r>
              <a:rPr lang="vi-VN" sz="900" smtClean="0">
                <a:latin typeface="Montserrat" pitchFamily="2" charset="0"/>
              </a:rPr>
              <a:t>ra </a:t>
            </a:r>
            <a:r>
              <a:rPr lang="en-US" sz="900" smtClean="0">
                <a:latin typeface="Montserrat" pitchFamily="2" charset="0"/>
              </a:rPr>
              <a:t>với biên độ giảm với mức </a:t>
            </a:r>
            <a:r>
              <a:rPr lang="vi-VN" sz="900" smtClean="0">
                <a:latin typeface="Montserrat" pitchFamily="2" charset="0"/>
              </a:rPr>
              <a:t>chênh </a:t>
            </a:r>
            <a:r>
              <a:rPr lang="vi-VN" sz="900">
                <a:latin typeface="Montserrat" pitchFamily="2" charset="0"/>
              </a:rPr>
              <a:t>lệch và khối lượng tăng. </a:t>
            </a:r>
            <a:r>
              <a:rPr lang="en-US" sz="900" smtClean="0">
                <a:latin typeface="Montserrat" pitchFamily="2" charset="0"/>
              </a:rPr>
              <a:t>Việc cam kết dưới hỗ trợ </a:t>
            </a:r>
            <a:r>
              <a:rPr lang="en-US" sz="900" b="1" smtClean="0">
                <a:latin typeface="Montserrat" pitchFamily="2" charset="0"/>
              </a:rPr>
              <a:t>AR</a:t>
            </a:r>
            <a:r>
              <a:rPr lang="en-US" sz="900" smtClean="0">
                <a:latin typeface="Montserrat" pitchFamily="2" charset="0"/>
              </a:rPr>
              <a:t> </a:t>
            </a:r>
            <a:r>
              <a:rPr lang="vi-VN" sz="900" smtClean="0">
                <a:latin typeface="Montserrat" pitchFamily="2" charset="0"/>
              </a:rPr>
              <a:t>ban </a:t>
            </a:r>
            <a:r>
              <a:rPr lang="vi-VN" sz="900">
                <a:latin typeface="Montserrat" pitchFamily="2" charset="0"/>
              </a:rPr>
              <a:t>đầu cho </a:t>
            </a:r>
            <a:r>
              <a:rPr lang="en-US" sz="900" smtClean="0">
                <a:latin typeface="Montserrat" pitchFamily="2" charset="0"/>
              </a:rPr>
              <a:t>thấy </a:t>
            </a:r>
            <a:r>
              <a:rPr lang="vi-VN" sz="900" smtClean="0">
                <a:latin typeface="Montserrat" pitchFamily="2" charset="0"/>
              </a:rPr>
              <a:t>sự </a:t>
            </a:r>
            <a:r>
              <a:rPr lang="vi-VN" sz="900">
                <a:latin typeface="Montserrat" pitchFamily="2" charset="0"/>
              </a:rPr>
              <a:t>thay đổi đặc tính trong hành động giá của sản phẩm </a:t>
            </a:r>
            <a:r>
              <a:rPr lang="vi-VN" sz="900" b="1">
                <a:latin typeface="Montserrat" pitchFamily="2" charset="0"/>
              </a:rPr>
              <a:t>nguồn cung </a:t>
            </a:r>
            <a:r>
              <a:rPr lang="vi-VN" sz="900">
                <a:latin typeface="Montserrat" pitchFamily="2" charset="0"/>
              </a:rPr>
              <a:t>bây giờ là </a:t>
            </a:r>
            <a:r>
              <a:rPr lang="vi-VN" sz="900" smtClean="0">
                <a:latin typeface="Montserrat" pitchFamily="2" charset="0"/>
              </a:rPr>
              <a:t>c</a:t>
            </a:r>
            <a:r>
              <a:rPr lang="en-US" sz="900" smtClean="0">
                <a:latin typeface="Montserrat" pitchFamily="2" charset="0"/>
              </a:rPr>
              <a:t>hiếm</a:t>
            </a:r>
            <a:r>
              <a:rPr lang="vi-VN" sz="900" smtClean="0">
                <a:latin typeface="Montserrat" pitchFamily="2" charset="0"/>
              </a:rPr>
              <a:t> </a:t>
            </a:r>
            <a:r>
              <a:rPr lang="vi-VN" sz="900">
                <a:latin typeface="Montserrat" pitchFamily="2" charset="0"/>
              </a:rPr>
              <a:t>ưu thế.</a:t>
            </a:r>
            <a:endParaRPr lang="en-US" sz="900">
              <a:latin typeface="Montserrat" pitchFamily="2" charset="0"/>
            </a:endParaRPr>
          </a:p>
        </p:txBody>
      </p:sp>
      <p:sp>
        <p:nvSpPr>
          <p:cNvPr id="7" name="Rectangle 6"/>
          <p:cNvSpPr/>
          <p:nvPr/>
        </p:nvSpPr>
        <p:spPr>
          <a:xfrm>
            <a:off x="3418114" y="3246953"/>
            <a:ext cx="5715000" cy="923330"/>
          </a:xfrm>
          <a:prstGeom prst="rect">
            <a:avLst/>
          </a:prstGeom>
        </p:spPr>
        <p:txBody>
          <a:bodyPr wrap="square">
            <a:spAutoFit/>
          </a:bodyPr>
          <a:lstStyle/>
          <a:p>
            <a:r>
              <a:rPr lang="vi-VN" sz="900" b="1">
                <a:solidFill>
                  <a:srgbClr val="00B0F0"/>
                </a:solidFill>
                <a:latin typeface="Montserrat" pitchFamily="2" charset="0"/>
              </a:rPr>
              <a:t>LPSY — Điểm </a:t>
            </a:r>
            <a:r>
              <a:rPr lang="vi-VN" sz="900" b="1" smtClean="0">
                <a:solidFill>
                  <a:srgbClr val="00B0F0"/>
                </a:solidFill>
                <a:latin typeface="Montserrat" pitchFamily="2" charset="0"/>
              </a:rPr>
              <a:t>kháng</a:t>
            </a:r>
            <a:r>
              <a:rPr lang="en-US" sz="900" b="1" smtClean="0">
                <a:solidFill>
                  <a:srgbClr val="00B0F0"/>
                </a:solidFill>
                <a:latin typeface="Montserrat" pitchFamily="2" charset="0"/>
              </a:rPr>
              <a:t> cự</a:t>
            </a:r>
            <a:r>
              <a:rPr lang="vi-VN" sz="900" b="1" smtClean="0">
                <a:solidFill>
                  <a:srgbClr val="00B0F0"/>
                </a:solidFill>
                <a:latin typeface="Montserrat" pitchFamily="2" charset="0"/>
              </a:rPr>
              <a:t> </a:t>
            </a:r>
            <a:r>
              <a:rPr lang="vi-VN" sz="900" b="1">
                <a:solidFill>
                  <a:srgbClr val="00B0F0"/>
                </a:solidFill>
                <a:latin typeface="Montserrat" pitchFamily="2" charset="0"/>
              </a:rPr>
              <a:t>cuối cùng</a:t>
            </a:r>
            <a:r>
              <a:rPr lang="vi-VN" sz="900">
                <a:latin typeface="Montserrat" pitchFamily="2" charset="0"/>
              </a:rPr>
              <a:t>. Sau khi kiểm tra mức </a:t>
            </a:r>
            <a:r>
              <a:rPr lang="en-US" sz="900" smtClean="0">
                <a:latin typeface="Montserrat" pitchFamily="2" charset="0"/>
              </a:rPr>
              <a:t>kháng cự cục bộ ở </a:t>
            </a:r>
            <a:r>
              <a:rPr lang="en-US" sz="900" b="1" smtClean="0">
                <a:latin typeface="Montserrat" pitchFamily="2" charset="0"/>
              </a:rPr>
              <a:t>biên dưới TR </a:t>
            </a:r>
            <a:r>
              <a:rPr lang="vi-VN" sz="900" smtClean="0">
                <a:latin typeface="Montserrat" pitchFamily="2" charset="0"/>
              </a:rPr>
              <a:t>, </a:t>
            </a:r>
            <a:r>
              <a:rPr lang="vi-VN" sz="900">
                <a:latin typeface="Montserrat" pitchFamily="2" charset="0"/>
              </a:rPr>
              <a:t>một đợt phục hồi yếu ớt trên biên độ hẹp cho thấy thị trường đang gặp khó khăn đáng kể trong việc tăng giá. Việc không thể tăng </a:t>
            </a:r>
            <a:r>
              <a:rPr lang="en-US" sz="900" smtClean="0">
                <a:latin typeface="Montserrat" pitchFamily="2" charset="0"/>
              </a:rPr>
              <a:t>đến các mức </a:t>
            </a:r>
            <a:r>
              <a:rPr lang="vi-VN" sz="900" smtClean="0">
                <a:latin typeface="Montserrat" pitchFamily="2" charset="0"/>
              </a:rPr>
              <a:t>có </a:t>
            </a:r>
            <a:r>
              <a:rPr lang="vi-VN" sz="900">
                <a:latin typeface="Montserrat" pitchFamily="2" charset="0"/>
              </a:rPr>
              <a:t>thể là do nguồn cầu </a:t>
            </a:r>
            <a:r>
              <a:rPr lang="vi-VN" sz="900" smtClean="0">
                <a:latin typeface="Montserrat" pitchFamily="2" charset="0"/>
              </a:rPr>
              <a:t>yếu</a:t>
            </a:r>
            <a:r>
              <a:rPr lang="en-US" sz="900" smtClean="0">
                <a:latin typeface="Montserrat" pitchFamily="2" charset="0"/>
              </a:rPr>
              <a:t>-</a:t>
            </a:r>
            <a:r>
              <a:rPr lang="vi-VN" sz="900" smtClean="0">
                <a:latin typeface="Montserrat" pitchFamily="2" charset="0"/>
              </a:rPr>
              <a:t> </a:t>
            </a:r>
            <a:r>
              <a:rPr lang="vi-VN" sz="900">
                <a:latin typeface="Montserrat" pitchFamily="2" charset="0"/>
              </a:rPr>
              <a:t>nguồn cung đáng kể </a:t>
            </a:r>
            <a:r>
              <a:rPr lang="vi-VN" sz="900" smtClean="0">
                <a:latin typeface="Montserrat" pitchFamily="2" charset="0"/>
              </a:rPr>
              <a:t>hoặc</a:t>
            </a:r>
            <a:r>
              <a:rPr lang="en-US" sz="900">
                <a:latin typeface="Montserrat" pitchFamily="2" charset="0"/>
              </a:rPr>
              <a:t> </a:t>
            </a:r>
            <a:r>
              <a:rPr lang="en-US" sz="900" smtClean="0">
                <a:latin typeface="Montserrat" pitchFamily="2" charset="0"/>
              </a:rPr>
              <a:t>nguồn cầu mạnh – nguồn cung mạnh hơn </a:t>
            </a:r>
            <a:r>
              <a:rPr lang="vi-VN" sz="900" smtClean="0">
                <a:latin typeface="Montserrat" pitchFamily="2" charset="0"/>
              </a:rPr>
              <a:t>. </a:t>
            </a:r>
            <a:r>
              <a:rPr lang="vi-VN" sz="900" b="1">
                <a:latin typeface="Montserrat" pitchFamily="2" charset="0"/>
              </a:rPr>
              <a:t>LPSY </a:t>
            </a:r>
            <a:r>
              <a:rPr lang="vi-VN" sz="900">
                <a:latin typeface="Montserrat" pitchFamily="2" charset="0"/>
              </a:rPr>
              <a:t>thể hiện sự cạn kiệt nguồn cầu và những đợt </a:t>
            </a:r>
            <a:r>
              <a:rPr lang="en-US" sz="900" smtClean="0">
                <a:latin typeface="Montserrat" pitchFamily="2" charset="0"/>
              </a:rPr>
              <a:t>bán hàng </a:t>
            </a:r>
            <a:r>
              <a:rPr lang="vi-VN" sz="900" smtClean="0">
                <a:latin typeface="Montserrat" pitchFamily="2" charset="0"/>
              </a:rPr>
              <a:t>cuối </a:t>
            </a:r>
            <a:r>
              <a:rPr lang="vi-VN" sz="900">
                <a:latin typeface="Montserrat" pitchFamily="2" charset="0"/>
              </a:rPr>
              <a:t>cùng của các nhà điều hành tổng hợp trước khi việc giảm giá bắt đầu mạnh mẽ hơn.</a:t>
            </a:r>
            <a:endParaRPr lang="en-US" sz="900">
              <a:latin typeface="Montserrat" pitchFamily="2" charset="0"/>
            </a:endParaRPr>
          </a:p>
        </p:txBody>
      </p:sp>
      <p:sp>
        <p:nvSpPr>
          <p:cNvPr id="8" name="Rectangle 7"/>
          <p:cNvSpPr/>
          <p:nvPr/>
        </p:nvSpPr>
        <p:spPr>
          <a:xfrm>
            <a:off x="3429000" y="4093011"/>
            <a:ext cx="5715000" cy="923330"/>
          </a:xfrm>
          <a:prstGeom prst="rect">
            <a:avLst/>
          </a:prstGeom>
        </p:spPr>
        <p:txBody>
          <a:bodyPr wrap="square">
            <a:spAutoFit/>
          </a:bodyPr>
          <a:lstStyle/>
          <a:p>
            <a:r>
              <a:rPr lang="vi-VN" sz="900" b="1">
                <a:solidFill>
                  <a:srgbClr val="00B0F0"/>
                </a:solidFill>
                <a:latin typeface="Montserrat" pitchFamily="2" charset="0"/>
              </a:rPr>
              <a:t>UTAD — Bẫy tăng giá </a:t>
            </a:r>
            <a:r>
              <a:rPr lang="en-US" sz="900" b="1" smtClean="0">
                <a:solidFill>
                  <a:srgbClr val="00B0F0"/>
                </a:solidFill>
                <a:latin typeface="Montserrat" pitchFamily="2" charset="0"/>
              </a:rPr>
              <a:t>chính </a:t>
            </a:r>
            <a:r>
              <a:rPr lang="vi-VN" sz="900" b="1" smtClean="0">
                <a:solidFill>
                  <a:srgbClr val="00B0F0"/>
                </a:solidFill>
                <a:latin typeface="Montserrat" pitchFamily="2" charset="0"/>
              </a:rPr>
              <a:t>phân </a:t>
            </a:r>
            <a:r>
              <a:rPr lang="vi-VN" sz="900" b="1">
                <a:solidFill>
                  <a:srgbClr val="00B0F0"/>
                </a:solidFill>
                <a:latin typeface="Montserrat" pitchFamily="2" charset="0"/>
              </a:rPr>
              <a:t>phối</a:t>
            </a:r>
            <a:r>
              <a:rPr lang="vi-VN" sz="900">
                <a:latin typeface="Montserrat" pitchFamily="2" charset="0"/>
              </a:rPr>
              <a:t>. UTAD là tín hiệu cho thấy sự dấu hiệu sức mạnh SOS bị thất bại đi đến  phân phối </a:t>
            </a:r>
            <a:r>
              <a:rPr lang="en-US" sz="900" smtClean="0">
                <a:latin typeface="Montserrat" pitchFamily="2" charset="0"/>
              </a:rPr>
              <a:t>nó giống như </a:t>
            </a:r>
            <a:r>
              <a:rPr lang="vi-VN" sz="900" smtClean="0">
                <a:latin typeface="Montserrat" pitchFamily="2" charset="0"/>
              </a:rPr>
              <a:t>một </a:t>
            </a:r>
            <a:r>
              <a:rPr lang="vi-VN" sz="900">
                <a:latin typeface="Montserrat" pitchFamily="2" charset="0"/>
              </a:rPr>
              <a:t>Spring/ </a:t>
            </a:r>
            <a:r>
              <a:rPr lang="vi-VN" sz="900" smtClean="0">
                <a:latin typeface="Montserrat" pitchFamily="2" charset="0"/>
              </a:rPr>
              <a:t>Shak</a:t>
            </a:r>
            <a:r>
              <a:rPr lang="en-US" sz="900" smtClean="0">
                <a:latin typeface="Montserrat" pitchFamily="2" charset="0"/>
              </a:rPr>
              <a:t>e</a:t>
            </a:r>
            <a:r>
              <a:rPr lang="vi-VN" sz="900" smtClean="0">
                <a:latin typeface="Montserrat" pitchFamily="2" charset="0"/>
              </a:rPr>
              <a:t>out </a:t>
            </a:r>
            <a:r>
              <a:rPr lang="vi-VN" sz="900">
                <a:latin typeface="Montserrat" pitchFamily="2" charset="0"/>
              </a:rPr>
              <a:t>ở biên dưới trong TR tích lũy. Nó </a:t>
            </a:r>
            <a:r>
              <a:rPr lang="en-US" sz="900" smtClean="0">
                <a:latin typeface="Montserrat" pitchFamily="2" charset="0"/>
              </a:rPr>
              <a:t>tạo ra một hành động tăng giá nhắm kiểm tra nguồn cầu ở biên trên TR phân phối  </a:t>
            </a:r>
            <a:r>
              <a:rPr lang="vi-VN" sz="900" smtClean="0">
                <a:latin typeface="Montserrat" pitchFamily="2" charset="0"/>
              </a:rPr>
              <a:t>và </a:t>
            </a:r>
            <a:r>
              <a:rPr lang="en-US" sz="900" smtClean="0">
                <a:latin typeface="Montserrat" pitchFamily="2" charset="0"/>
              </a:rPr>
              <a:t>nguồn cung bắt đầu tăng lên mạnh mẽ hơn</a:t>
            </a:r>
            <a:r>
              <a:rPr lang="vi-VN" sz="900" smtClean="0">
                <a:latin typeface="Montserrat" pitchFamily="2" charset="0"/>
              </a:rPr>
              <a:t>. </a:t>
            </a:r>
            <a:r>
              <a:rPr lang="vi-VN" sz="900">
                <a:latin typeface="Montserrat" pitchFamily="2" charset="0"/>
              </a:rPr>
              <a:t>Tương tự như Spring/ Shakeout , UTAD không phải là một thành phần cấu trúc bắt buộc: TR trong phân phối</a:t>
            </a:r>
            <a:r>
              <a:rPr lang="vi-VN" sz="900" smtClean="0">
                <a:latin typeface="Montserrat" pitchFamily="2" charset="0"/>
              </a:rPr>
              <a:t>.</a:t>
            </a:r>
            <a:r>
              <a:rPr lang="en-US" sz="900" smtClean="0">
                <a:latin typeface="Montserrat" pitchFamily="2" charset="0"/>
              </a:rPr>
              <a:t> </a:t>
            </a:r>
            <a:r>
              <a:rPr lang="vi-VN" sz="900" b="1" smtClean="0">
                <a:latin typeface="Montserrat" pitchFamily="2" charset="0"/>
              </a:rPr>
              <a:t>Biểu </a:t>
            </a:r>
            <a:r>
              <a:rPr lang="vi-VN" sz="900" b="1">
                <a:latin typeface="Montserrat" pitchFamily="2" charset="0"/>
              </a:rPr>
              <a:t>đồ # 1 chứa UTAD, trong khi TR trong </a:t>
            </a:r>
            <a:r>
              <a:rPr lang="en-US" sz="900" b="1" smtClean="0">
                <a:latin typeface="Montserrat" pitchFamily="2" charset="0"/>
              </a:rPr>
              <a:t>Biểu</a:t>
            </a:r>
            <a:r>
              <a:rPr lang="vi-VN" sz="900" b="1" smtClean="0">
                <a:latin typeface="Montserrat" pitchFamily="2" charset="0"/>
              </a:rPr>
              <a:t> </a:t>
            </a:r>
            <a:r>
              <a:rPr lang="vi-VN" sz="900" b="1">
                <a:latin typeface="Montserrat" pitchFamily="2" charset="0"/>
              </a:rPr>
              <a:t>đồ phân phối # 2 thì không.</a:t>
            </a:r>
            <a:endParaRPr lang="en-US" sz="900" b="1">
              <a:latin typeface="Montserrat" pitchFamily="2" charset="0"/>
            </a:endParaRP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429000" cy="2470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470636"/>
            <a:ext cx="3429000" cy="2672864"/>
          </a:xfrm>
          <a:prstGeom prst="rect">
            <a:avLst/>
          </a:prstGeom>
        </p:spPr>
      </p:pic>
      <p:pic>
        <p:nvPicPr>
          <p:cNvPr id="12"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35083939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Picture 17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3" y="0"/>
            <a:ext cx="9142397" cy="5162535"/>
          </a:xfrm>
          <a:prstGeom prst="rect">
            <a:avLst/>
          </a:prstGeom>
        </p:spPr>
      </p:pic>
      <p:graphicFrame>
        <p:nvGraphicFramePr>
          <p:cNvPr id="6" name="Content Placeholder 5"/>
          <p:cNvGraphicFramePr>
            <a:graphicFrameLocks noGrp="1"/>
          </p:cNvGraphicFramePr>
          <p:nvPr>
            <p:ph sz="half" idx="1"/>
            <p:extLst>
              <p:ext uri="{D42A27DB-BD31-4B8C-83A1-F6EECF244321}">
                <p14:modId xmlns:p14="http://schemas.microsoft.com/office/powerpoint/2010/main" val="2442497472"/>
              </p:ext>
            </p:extLst>
          </p:nvPr>
        </p:nvGraphicFramePr>
        <p:xfrm>
          <a:off x="2209800" y="971550"/>
          <a:ext cx="5837722" cy="3473616"/>
        </p:xfrm>
        <a:graphic>
          <a:graphicData uri="http://schemas.openxmlformats.org/drawingml/2006/table">
            <a:tbl>
              <a:tblPr firstRow="1" bandRow="1">
                <a:tableStyleId>{5C22544A-7EE6-4342-B048-85BDC9FD1C3A}</a:tableStyleId>
              </a:tblPr>
              <a:tblGrid>
                <a:gridCol w="1157530"/>
                <a:gridCol w="4680192"/>
              </a:tblGrid>
              <a:tr h="434202">
                <a:tc>
                  <a:txBody>
                    <a:bodyPr/>
                    <a:lstStyle/>
                    <a:p>
                      <a:pPr indent="0" algn="ctr">
                        <a:buNone/>
                      </a:pPr>
                      <a:r>
                        <a:rPr lang="en-US" sz="2400" b="1" dirty="0">
                          <a:solidFill>
                            <a:srgbClr val="000000"/>
                          </a:solidFill>
                          <a:latin typeface="Calibri" panose="020F0502020204030204" charset="-93"/>
                        </a:rPr>
                        <a:t>PSY</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c>
                  <a:txBody>
                    <a:bodyPr/>
                    <a:lstStyle/>
                    <a:p>
                      <a:pPr indent="0" algn="ctr">
                        <a:buNone/>
                      </a:pPr>
                      <a:r>
                        <a:rPr lang="en-US" sz="2400" b="1">
                          <a:solidFill>
                            <a:srgbClr val="000000"/>
                          </a:solidFill>
                          <a:latin typeface="Calibri" panose="020F0502020204030204" charset="-93"/>
                        </a:rPr>
                        <a:t>Preliminary supply</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r>
              <a:tr h="434202">
                <a:tc>
                  <a:txBody>
                    <a:bodyPr/>
                    <a:lstStyle/>
                    <a:p>
                      <a:pPr indent="0" algn="ctr">
                        <a:buNone/>
                      </a:pPr>
                      <a:r>
                        <a:rPr lang="en-US" sz="2400" b="1">
                          <a:solidFill>
                            <a:srgbClr val="000000"/>
                          </a:solidFill>
                          <a:latin typeface="Calibri" panose="020F0502020204030204" charset="-93"/>
                        </a:rPr>
                        <a:t>BCLX</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Calibri" panose="020F0502020204030204" charset="-93"/>
                        </a:rPr>
                        <a:t>Buying climax</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4202">
                <a:tc>
                  <a:txBody>
                    <a:bodyPr/>
                    <a:lstStyle/>
                    <a:p>
                      <a:pPr indent="0" algn="ctr">
                        <a:buNone/>
                      </a:pPr>
                      <a:r>
                        <a:rPr lang="en-US" sz="2400" b="1">
                          <a:solidFill>
                            <a:srgbClr val="000000"/>
                          </a:solidFill>
                          <a:latin typeface="Calibri" panose="020F0502020204030204" charset="-93"/>
                        </a:rPr>
                        <a:t>AR</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c>
                  <a:txBody>
                    <a:bodyPr/>
                    <a:lstStyle/>
                    <a:p>
                      <a:pPr indent="0" algn="ctr">
                        <a:buNone/>
                      </a:pPr>
                      <a:r>
                        <a:rPr lang="en-US" sz="2400" b="1" dirty="0">
                          <a:solidFill>
                            <a:srgbClr val="000000"/>
                          </a:solidFill>
                          <a:latin typeface="Calibri" panose="020F0502020204030204" charset="-93"/>
                        </a:rPr>
                        <a:t>Auto rally</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r>
              <a:tr h="434202">
                <a:tc>
                  <a:txBody>
                    <a:bodyPr/>
                    <a:lstStyle/>
                    <a:p>
                      <a:pPr indent="0" algn="ctr">
                        <a:buNone/>
                      </a:pPr>
                      <a:r>
                        <a:rPr lang="en-US" sz="2400" b="1">
                          <a:solidFill>
                            <a:srgbClr val="000000"/>
                          </a:solidFill>
                          <a:latin typeface="Calibri" panose="020F0502020204030204" charset="-93"/>
                        </a:rPr>
                        <a:t>ST</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Calibri" panose="020F0502020204030204" charset="-93"/>
                        </a:rPr>
                        <a:t>Secondary climax</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4202">
                <a:tc>
                  <a:txBody>
                    <a:bodyPr/>
                    <a:lstStyle/>
                    <a:p>
                      <a:pPr indent="0" algn="ctr">
                        <a:buNone/>
                      </a:pPr>
                      <a:r>
                        <a:rPr lang="en-US" sz="2400" b="1">
                          <a:solidFill>
                            <a:srgbClr val="000000"/>
                          </a:solidFill>
                          <a:latin typeface="Calibri" panose="020F0502020204030204" charset="-93"/>
                        </a:rPr>
                        <a:t>UT</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c>
                  <a:txBody>
                    <a:bodyPr/>
                    <a:lstStyle/>
                    <a:p>
                      <a:pPr indent="0" algn="ctr">
                        <a:buNone/>
                      </a:pPr>
                      <a:r>
                        <a:rPr lang="en-US" sz="2400" b="1" dirty="0" err="1">
                          <a:solidFill>
                            <a:srgbClr val="000000"/>
                          </a:solidFill>
                          <a:latin typeface="Calibri" panose="020F0502020204030204" charset="-93"/>
                        </a:rPr>
                        <a:t>Upthrust</a:t>
                      </a:r>
                      <a:endParaRPr lang="en-US" sz="2400" b="1" dirty="0">
                        <a:solidFill>
                          <a:srgbClr val="000000"/>
                        </a:solidFill>
                        <a:latin typeface="Calibri" panose="020F0502020204030204" charset="-93"/>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r>
              <a:tr h="434202">
                <a:tc>
                  <a:txBody>
                    <a:bodyPr/>
                    <a:lstStyle/>
                    <a:p>
                      <a:pPr indent="0" algn="ctr">
                        <a:buNone/>
                      </a:pPr>
                      <a:r>
                        <a:rPr lang="en-US" sz="2400" b="1">
                          <a:solidFill>
                            <a:srgbClr val="000000"/>
                          </a:solidFill>
                          <a:latin typeface="Calibri" panose="020F0502020204030204" charset="-93"/>
                        </a:rPr>
                        <a:t>UTAD</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Calibri" panose="020F0502020204030204" charset="-93"/>
                        </a:rPr>
                        <a:t>Upthrust after Distribution</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4202">
                <a:tc>
                  <a:txBody>
                    <a:bodyPr/>
                    <a:lstStyle/>
                    <a:p>
                      <a:pPr indent="0" algn="ctr">
                        <a:buNone/>
                      </a:pPr>
                      <a:r>
                        <a:rPr lang="en-US" sz="2400" b="1">
                          <a:solidFill>
                            <a:srgbClr val="000000"/>
                          </a:solidFill>
                          <a:latin typeface="Calibri" panose="020F0502020204030204" charset="-93"/>
                        </a:rPr>
                        <a:t>SOW</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c>
                  <a:txBody>
                    <a:bodyPr/>
                    <a:lstStyle/>
                    <a:p>
                      <a:pPr indent="0" algn="ctr">
                        <a:buNone/>
                      </a:pPr>
                      <a:r>
                        <a:rPr lang="en-US" sz="2400" b="1">
                          <a:solidFill>
                            <a:srgbClr val="000000"/>
                          </a:solidFill>
                          <a:latin typeface="Calibri" panose="020F0502020204030204" charset="-93"/>
                        </a:rPr>
                        <a:t>Sign of weakness</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2CC"/>
                    </a:solidFill>
                  </a:tcPr>
                </a:tc>
              </a:tr>
              <a:tr h="434202">
                <a:tc>
                  <a:txBody>
                    <a:bodyPr/>
                    <a:lstStyle/>
                    <a:p>
                      <a:pPr indent="0" algn="ctr">
                        <a:buNone/>
                      </a:pPr>
                      <a:r>
                        <a:rPr lang="en-US" sz="2400" b="1">
                          <a:solidFill>
                            <a:srgbClr val="000000"/>
                          </a:solidFill>
                          <a:latin typeface="Calibri" panose="020F0502020204030204" charset="-93"/>
                        </a:rPr>
                        <a:t>LPSY</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1" dirty="0">
                          <a:solidFill>
                            <a:srgbClr val="000000"/>
                          </a:solidFill>
                          <a:latin typeface="Calibri" panose="020F0502020204030204" charset="-93"/>
                        </a:rPr>
                        <a:t>Last point of supply</a:t>
                      </a: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9" name="Text Box 8"/>
          <p:cNvSpPr txBox="1"/>
          <p:nvPr/>
        </p:nvSpPr>
        <p:spPr>
          <a:xfrm>
            <a:off x="3505200" y="285750"/>
            <a:ext cx="3358612" cy="646331"/>
          </a:xfrm>
          <a:prstGeom prst="rect">
            <a:avLst/>
          </a:prstGeom>
          <a:noFill/>
        </p:spPr>
        <p:txBody>
          <a:bodyPr wrap="none" rtlCol="0">
            <a:spAutoFit/>
          </a:bodyPr>
          <a:lstStyle/>
          <a:p>
            <a:pPr algn="ctr"/>
            <a:r>
              <a:rPr lang="vi-VN" altLang="en-US" b="1" i="1" u="sng" dirty="0"/>
              <a:t>CÁC THUẬT NGỮ WYCKOFF</a:t>
            </a:r>
            <a:endParaRPr lang="vi-VN" altLang="en-US" b="1" i="1" dirty="0"/>
          </a:p>
          <a:p>
            <a:pPr algn="ctr"/>
            <a:r>
              <a:rPr lang="vi-VN" altLang="en-US" b="1" i="1" dirty="0"/>
              <a:t>(PHÂN PHỐI)</a:t>
            </a:r>
          </a:p>
        </p:txBody>
      </p:sp>
      <p:pic>
        <p:nvPicPr>
          <p:cNvPr id="269" name="Content Placeholder 26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438400" y="1047750"/>
            <a:ext cx="5294407" cy="3546796"/>
          </a:xfrm>
          <a:prstGeom prst="rect">
            <a:avLst/>
          </a:prstGeom>
        </p:spPr>
      </p:pic>
    </p:spTree>
    <p:extLst>
      <p:ext uri="{BB962C8B-B14F-4D97-AF65-F5344CB8AC3E}">
        <p14:creationId xmlns:p14="http://schemas.microsoft.com/office/powerpoint/2010/main" val="1562992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124200" y="0"/>
            <a:ext cx="6019800" cy="1007968"/>
          </a:xfrm>
          <a:prstGeom prst="rect">
            <a:avLst/>
          </a:prstGeom>
        </p:spPr>
        <p:txBody>
          <a:bodyPr wrap="square">
            <a:spAutoFit/>
          </a:bodyPr>
          <a:lstStyle/>
          <a:p>
            <a:r>
              <a:rPr lang="vi-VN" sz="850" b="1">
                <a:solidFill>
                  <a:srgbClr val="00B0F0"/>
                </a:solidFill>
                <a:latin typeface="Montserrat" pitchFamily="2" charset="0"/>
              </a:rPr>
              <a:t>Phase A</a:t>
            </a:r>
            <a:r>
              <a:rPr lang="vi-VN" sz="850">
                <a:latin typeface="Montserrat" pitchFamily="2" charset="0"/>
              </a:rPr>
              <a:t>: </a:t>
            </a:r>
            <a:r>
              <a:rPr lang="en-US" sz="850" smtClean="0">
                <a:latin typeface="Montserrat" pitchFamily="2" charset="0"/>
              </a:rPr>
              <a:t>T</a:t>
            </a:r>
            <a:r>
              <a:rPr lang="vi-VN" sz="850" smtClean="0">
                <a:latin typeface="Montserrat" pitchFamily="2" charset="0"/>
              </a:rPr>
              <a:t>rong </a:t>
            </a:r>
            <a:r>
              <a:rPr lang="vi-VN" sz="850">
                <a:latin typeface="Montserrat" pitchFamily="2" charset="0"/>
              </a:rPr>
              <a:t>phân phối TR đánh dấu </a:t>
            </a:r>
            <a:r>
              <a:rPr lang="en-US" sz="850" b="1" smtClean="0">
                <a:solidFill>
                  <a:srgbClr val="FF0000"/>
                </a:solidFill>
                <a:latin typeface="Montserrat" pitchFamily="2" charset="0"/>
              </a:rPr>
              <a:t>“</a:t>
            </a:r>
            <a:r>
              <a:rPr lang="en-US" sz="850" b="1">
                <a:solidFill>
                  <a:srgbClr val="FF0000"/>
                </a:solidFill>
                <a:latin typeface="Montserrat" pitchFamily="2" charset="0"/>
              </a:rPr>
              <a:t>S</a:t>
            </a:r>
            <a:r>
              <a:rPr lang="vi-VN" sz="850" b="1" smtClean="0">
                <a:solidFill>
                  <a:srgbClr val="FF0000"/>
                </a:solidFill>
                <a:latin typeface="Montserrat" pitchFamily="2" charset="0"/>
              </a:rPr>
              <a:t>ự </a:t>
            </a:r>
            <a:r>
              <a:rPr lang="vi-VN" sz="850" b="1">
                <a:solidFill>
                  <a:srgbClr val="FF0000"/>
                </a:solidFill>
                <a:latin typeface="Montserrat" pitchFamily="2" charset="0"/>
              </a:rPr>
              <a:t>dừng lại của xu hướng tăng trước </a:t>
            </a:r>
            <a:r>
              <a:rPr lang="vi-VN" sz="850" b="1" smtClean="0">
                <a:solidFill>
                  <a:srgbClr val="FF0000"/>
                </a:solidFill>
                <a:latin typeface="Montserrat" pitchFamily="2" charset="0"/>
              </a:rPr>
              <a:t>đó</a:t>
            </a:r>
            <a:r>
              <a:rPr lang="en-US" sz="850" b="1" smtClean="0">
                <a:solidFill>
                  <a:srgbClr val="FF0000"/>
                </a:solidFill>
                <a:latin typeface="Montserrat" pitchFamily="2" charset="0"/>
              </a:rPr>
              <a:t>”</a:t>
            </a:r>
            <a:r>
              <a:rPr lang="vi-VN" sz="850" smtClean="0">
                <a:latin typeface="Montserrat" pitchFamily="2" charset="0"/>
              </a:rPr>
              <a:t>. </a:t>
            </a:r>
            <a:r>
              <a:rPr lang="vi-VN" sz="850">
                <a:latin typeface="Montserrat" pitchFamily="2" charset="0"/>
              </a:rPr>
              <a:t>Cho đến thời điểm này, nguồn cầu </a:t>
            </a:r>
            <a:r>
              <a:rPr lang="en-US" sz="850" smtClean="0">
                <a:latin typeface="Montserrat" pitchFamily="2" charset="0"/>
              </a:rPr>
              <a:t>đang</a:t>
            </a:r>
            <a:r>
              <a:rPr lang="vi-VN" sz="850" smtClean="0">
                <a:latin typeface="Montserrat" pitchFamily="2" charset="0"/>
              </a:rPr>
              <a:t> </a:t>
            </a:r>
            <a:r>
              <a:rPr lang="vi-VN" sz="850">
                <a:latin typeface="Montserrat" pitchFamily="2" charset="0"/>
              </a:rPr>
              <a:t>chiếm ưu thế và </a:t>
            </a:r>
            <a:r>
              <a:rPr lang="en-US" sz="850" smtClean="0">
                <a:latin typeface="Montserrat" pitchFamily="2" charset="0"/>
              </a:rPr>
              <a:t>  dấu hiệu đầu tiên </a:t>
            </a:r>
            <a:r>
              <a:rPr lang="vi-VN" sz="850" smtClean="0">
                <a:latin typeface="Montserrat" pitchFamily="2" charset="0"/>
              </a:rPr>
              <a:t>việc </a:t>
            </a:r>
            <a:r>
              <a:rPr lang="en-US" sz="850" smtClean="0">
                <a:latin typeface="Montserrat" pitchFamily="2" charset="0"/>
              </a:rPr>
              <a:t>nguồn </a:t>
            </a:r>
            <a:r>
              <a:rPr lang="vi-VN" sz="850" smtClean="0">
                <a:latin typeface="Montserrat" pitchFamily="2" charset="0"/>
              </a:rPr>
              <a:t>cung</a:t>
            </a:r>
            <a:r>
              <a:rPr lang="en-US" sz="850" smtClean="0">
                <a:latin typeface="Montserrat" pitchFamily="2" charset="0"/>
              </a:rPr>
              <a:t> bắt đầu</a:t>
            </a:r>
            <a:r>
              <a:rPr lang="vi-VN" sz="850" smtClean="0">
                <a:latin typeface="Montserrat" pitchFamily="2" charset="0"/>
              </a:rPr>
              <a:t> </a:t>
            </a:r>
            <a:r>
              <a:rPr lang="vi-VN" sz="850">
                <a:latin typeface="Montserrat" pitchFamily="2" charset="0"/>
              </a:rPr>
              <a:t>tham gia thị trường </a:t>
            </a:r>
            <a:r>
              <a:rPr lang="en-US" sz="850" smtClean="0">
                <a:latin typeface="Montserrat" pitchFamily="2" charset="0"/>
              </a:rPr>
              <a:t>ở  điểm </a:t>
            </a:r>
            <a:r>
              <a:rPr lang="vi-VN" sz="850" smtClean="0">
                <a:latin typeface="Montserrat" pitchFamily="2" charset="0"/>
              </a:rPr>
              <a:t>cung </a:t>
            </a:r>
            <a:r>
              <a:rPr lang="vi-VN" sz="850">
                <a:latin typeface="Montserrat" pitchFamily="2" charset="0"/>
              </a:rPr>
              <a:t>sơ bộ </a:t>
            </a:r>
            <a:r>
              <a:rPr lang="vi-VN" sz="850" b="1">
                <a:latin typeface="Montserrat" pitchFamily="2" charset="0"/>
              </a:rPr>
              <a:t>(PSY) </a:t>
            </a:r>
            <a:r>
              <a:rPr lang="vi-VN" sz="850">
                <a:latin typeface="Montserrat" pitchFamily="2" charset="0"/>
              </a:rPr>
              <a:t>và </a:t>
            </a:r>
            <a:r>
              <a:rPr lang="en-US" sz="850" smtClean="0">
                <a:latin typeface="Montserrat" pitchFamily="2" charset="0"/>
              </a:rPr>
              <a:t>mua cao trào </a:t>
            </a:r>
            <a:r>
              <a:rPr lang="vi-VN" sz="850" b="1" smtClean="0">
                <a:latin typeface="Montserrat" pitchFamily="2" charset="0"/>
              </a:rPr>
              <a:t>(BCLX</a:t>
            </a:r>
            <a:r>
              <a:rPr lang="vi-VN" sz="850" b="1">
                <a:latin typeface="Montserrat" pitchFamily="2" charset="0"/>
              </a:rPr>
              <a:t>). </a:t>
            </a:r>
            <a:r>
              <a:rPr lang="vi-VN" sz="850">
                <a:latin typeface="Montserrat" pitchFamily="2" charset="0"/>
              </a:rPr>
              <a:t>Những sự kiện này thường được theo sau bởi một phản ứng tự động </a:t>
            </a:r>
            <a:r>
              <a:rPr lang="vi-VN" sz="850" b="1">
                <a:latin typeface="Montserrat" pitchFamily="2" charset="0"/>
              </a:rPr>
              <a:t>(AR) </a:t>
            </a:r>
            <a:r>
              <a:rPr lang="vi-VN" sz="850">
                <a:latin typeface="Montserrat" pitchFamily="2" charset="0"/>
              </a:rPr>
              <a:t>và một </a:t>
            </a:r>
            <a:r>
              <a:rPr lang="en-US" sz="850" smtClean="0">
                <a:latin typeface="Montserrat" pitchFamily="2" charset="0"/>
              </a:rPr>
              <a:t>thử nghiệm </a:t>
            </a:r>
            <a:r>
              <a:rPr lang="vi-VN" sz="850" smtClean="0">
                <a:latin typeface="Montserrat" pitchFamily="2" charset="0"/>
              </a:rPr>
              <a:t>thứ </a:t>
            </a:r>
            <a:r>
              <a:rPr lang="vi-VN" sz="850">
                <a:latin typeface="Montserrat" pitchFamily="2" charset="0"/>
              </a:rPr>
              <a:t>cấp </a:t>
            </a:r>
            <a:r>
              <a:rPr lang="vi-VN" sz="850" b="1">
                <a:latin typeface="Montserrat" pitchFamily="2" charset="0"/>
              </a:rPr>
              <a:t>(ST) </a:t>
            </a:r>
            <a:r>
              <a:rPr lang="vi-VN" sz="850">
                <a:latin typeface="Montserrat" pitchFamily="2" charset="0"/>
              </a:rPr>
              <a:t>của </a:t>
            </a:r>
            <a:r>
              <a:rPr lang="vi-VN" sz="850" b="1">
                <a:latin typeface="Montserrat" pitchFamily="2" charset="0"/>
              </a:rPr>
              <a:t>BCLX</a:t>
            </a:r>
            <a:r>
              <a:rPr lang="vi-VN" sz="850">
                <a:latin typeface="Montserrat" pitchFamily="2" charset="0"/>
              </a:rPr>
              <a:t>, thường là khi khối lượng giảm dần. Tuy nhiên, xu hướng tăng cũng có thể kết thúc mà không có hành động cao trào, thay vào đó thể hiện sự cạn kiệt của nguồn cầu với mức chênh lệch và khối lượng </a:t>
            </a:r>
            <a:r>
              <a:rPr lang="vi-VN" sz="850" smtClean="0">
                <a:latin typeface="Montserrat" pitchFamily="2" charset="0"/>
              </a:rPr>
              <a:t>giảm</a:t>
            </a:r>
            <a:r>
              <a:rPr lang="en-US" sz="850" smtClean="0">
                <a:latin typeface="Montserrat" pitchFamily="2" charset="0"/>
              </a:rPr>
              <a:t> dần </a:t>
            </a:r>
            <a:r>
              <a:rPr lang="vi-VN" sz="850" smtClean="0">
                <a:latin typeface="Montserrat" pitchFamily="2" charset="0"/>
              </a:rPr>
              <a:t> </a:t>
            </a:r>
            <a:r>
              <a:rPr lang="en-US" sz="850" b="1" smtClean="0">
                <a:latin typeface="Montserrat" pitchFamily="2" charset="0"/>
              </a:rPr>
              <a:t>“ rút ngắn lực đẩy”</a:t>
            </a:r>
            <a:r>
              <a:rPr lang="vi-VN" sz="850" b="1" smtClean="0">
                <a:latin typeface="Montserrat" pitchFamily="2" charset="0"/>
              </a:rPr>
              <a:t> </a:t>
            </a:r>
            <a:r>
              <a:rPr lang="vi-VN" sz="850">
                <a:latin typeface="Montserrat" pitchFamily="2" charset="0"/>
              </a:rPr>
              <a:t>được thực hiện trên </a:t>
            </a:r>
            <a:r>
              <a:rPr lang="vi-VN" sz="850" smtClean="0">
                <a:latin typeface="Montserrat" pitchFamily="2" charset="0"/>
              </a:rPr>
              <a:t>m</a:t>
            </a:r>
            <a:r>
              <a:rPr lang="en-US" sz="850" smtClean="0">
                <a:latin typeface="Montserrat" pitchFamily="2" charset="0"/>
              </a:rPr>
              <a:t>ỗ</a:t>
            </a:r>
            <a:r>
              <a:rPr lang="vi-VN" sz="850" smtClean="0">
                <a:latin typeface="Montserrat" pitchFamily="2" charset="0"/>
              </a:rPr>
              <a:t>i </a:t>
            </a:r>
            <a:r>
              <a:rPr lang="vi-VN" sz="850">
                <a:latin typeface="Montserrat" pitchFamily="2" charset="0"/>
              </a:rPr>
              <a:t>đợt tăng trước khi nguồn cung đáng kể xuất hiện.</a:t>
            </a:r>
            <a:endParaRPr lang="en-US" sz="850">
              <a:latin typeface="Montserrat" pitchFamily="2" charset="0"/>
            </a:endParaRPr>
          </a:p>
        </p:txBody>
      </p:sp>
      <p:sp>
        <p:nvSpPr>
          <p:cNvPr id="9" name="Rectangle 8"/>
          <p:cNvSpPr/>
          <p:nvPr/>
        </p:nvSpPr>
        <p:spPr>
          <a:xfrm>
            <a:off x="3124200" y="977174"/>
            <a:ext cx="6019800" cy="877163"/>
          </a:xfrm>
          <a:prstGeom prst="rect">
            <a:avLst/>
          </a:prstGeom>
        </p:spPr>
        <p:txBody>
          <a:bodyPr wrap="square">
            <a:spAutoFit/>
          </a:bodyPr>
          <a:lstStyle/>
          <a:p>
            <a:r>
              <a:rPr lang="en-US" sz="850" b="1" smtClean="0">
                <a:solidFill>
                  <a:srgbClr val="00B0F0"/>
                </a:solidFill>
                <a:latin typeface="Montserrat" pitchFamily="2" charset="0"/>
              </a:rPr>
              <a:t>Phase</a:t>
            </a:r>
            <a:r>
              <a:rPr lang="vi-VN" sz="850" b="1" smtClean="0">
                <a:solidFill>
                  <a:srgbClr val="00B0F0"/>
                </a:solidFill>
                <a:latin typeface="Montserrat" pitchFamily="2" charset="0"/>
              </a:rPr>
              <a:t> </a:t>
            </a:r>
            <a:r>
              <a:rPr lang="vi-VN" sz="850" b="1">
                <a:solidFill>
                  <a:srgbClr val="00B0F0"/>
                </a:solidFill>
                <a:latin typeface="Montserrat" pitchFamily="2" charset="0"/>
              </a:rPr>
              <a:t>B</a:t>
            </a:r>
            <a:r>
              <a:rPr lang="vi-VN" sz="850">
                <a:latin typeface="Montserrat" pitchFamily="2" charset="0"/>
              </a:rPr>
              <a:t>: Chức năng </a:t>
            </a:r>
            <a:r>
              <a:rPr lang="vi-VN" sz="850" smtClean="0">
                <a:latin typeface="Montserrat" pitchFamily="2" charset="0"/>
              </a:rPr>
              <a:t>là </a:t>
            </a:r>
            <a:r>
              <a:rPr lang="en-US" sz="850" b="1" smtClean="0">
                <a:solidFill>
                  <a:srgbClr val="FF0000"/>
                </a:solidFill>
                <a:latin typeface="Montserrat" pitchFamily="2" charset="0"/>
              </a:rPr>
              <a:t>“</a:t>
            </a:r>
            <a:r>
              <a:rPr lang="vi-VN" sz="850" b="1" smtClean="0">
                <a:solidFill>
                  <a:srgbClr val="FF0000"/>
                </a:solidFill>
                <a:latin typeface="Montserrat" pitchFamily="2" charset="0"/>
              </a:rPr>
              <a:t>xây </a:t>
            </a:r>
            <a:r>
              <a:rPr lang="vi-VN" sz="850" b="1">
                <a:solidFill>
                  <a:srgbClr val="FF0000"/>
                </a:solidFill>
                <a:latin typeface="Montserrat" pitchFamily="2" charset="0"/>
              </a:rPr>
              <a:t>dựng nguyên </a:t>
            </a:r>
            <a:r>
              <a:rPr lang="vi-VN" sz="850" b="1" smtClean="0">
                <a:solidFill>
                  <a:srgbClr val="FF0000"/>
                </a:solidFill>
                <a:latin typeface="Montserrat" pitchFamily="2" charset="0"/>
              </a:rPr>
              <a:t>nhân</a:t>
            </a:r>
            <a:r>
              <a:rPr lang="en-US" sz="850" b="1" smtClean="0">
                <a:solidFill>
                  <a:srgbClr val="FF0000"/>
                </a:solidFill>
                <a:latin typeface="Montserrat" pitchFamily="2" charset="0"/>
              </a:rPr>
              <a:t>”</a:t>
            </a:r>
            <a:r>
              <a:rPr lang="vi-VN" sz="850" b="1" smtClean="0">
                <a:solidFill>
                  <a:srgbClr val="FF0000"/>
                </a:solidFill>
                <a:latin typeface="Montserrat" pitchFamily="2" charset="0"/>
              </a:rPr>
              <a:t> </a:t>
            </a:r>
            <a:r>
              <a:rPr lang="vi-VN" sz="850">
                <a:latin typeface="Montserrat" pitchFamily="2" charset="0"/>
              </a:rPr>
              <a:t>để chuẩn bị cho một xu hướng giảm mới. Trong thời gian này, các nhà điều hành tổng hợp đang bán số lượng lớn hàng của họ </a:t>
            </a:r>
            <a:r>
              <a:rPr lang="en-US" sz="850" smtClean="0">
                <a:latin typeface="Montserrat" pitchFamily="2" charset="0"/>
              </a:rPr>
              <a:t>để chuẩn bị cho</a:t>
            </a:r>
            <a:r>
              <a:rPr lang="vi-VN" sz="850" smtClean="0">
                <a:latin typeface="Montserrat" pitchFamily="2" charset="0"/>
              </a:rPr>
              <a:t> </a:t>
            </a:r>
            <a:r>
              <a:rPr lang="vi-VN" sz="850">
                <a:latin typeface="Montserrat" pitchFamily="2" charset="0"/>
              </a:rPr>
              <a:t>sự sụt giảm tiếp theo. Các điểm </a:t>
            </a:r>
            <a:r>
              <a:rPr lang="vi-VN" sz="850" smtClean="0">
                <a:latin typeface="Montserrat" pitchFamily="2" charset="0"/>
              </a:rPr>
              <a:t> </a:t>
            </a:r>
            <a:r>
              <a:rPr lang="vi-VN" sz="850">
                <a:latin typeface="Montserrat" pitchFamily="2" charset="0"/>
              </a:rPr>
              <a:t>Giai đoạn B trong phân phối tương tự như các điểm được thực hiện cho Giai đoạn B trong tích lũy, ngoại trừ </a:t>
            </a:r>
            <a:r>
              <a:rPr lang="en-US" sz="850" smtClean="0">
                <a:latin typeface="Montserrat" pitchFamily="2" charset="0"/>
              </a:rPr>
              <a:t>tay mạnh bắt đầu </a:t>
            </a:r>
            <a:r>
              <a:rPr lang="vi-VN" sz="850" smtClean="0">
                <a:latin typeface="Montserrat" pitchFamily="2" charset="0"/>
              </a:rPr>
              <a:t>là </a:t>
            </a:r>
            <a:r>
              <a:rPr lang="vi-VN" sz="850">
                <a:latin typeface="Montserrat" pitchFamily="2" charset="0"/>
              </a:rPr>
              <a:t>bán từng phần sản phẩm khi TR phát triển, với mục tiêu cạn kiệt càng nhiều nguồn cầu còn lại càng tốt. Quá trình này để lại </a:t>
            </a:r>
            <a:r>
              <a:rPr lang="en-US" sz="850" smtClean="0">
                <a:latin typeface="Montserrat" pitchFamily="2" charset="0"/>
              </a:rPr>
              <a:t>dấu chân</a:t>
            </a:r>
            <a:r>
              <a:rPr lang="vi-VN" sz="850" smtClean="0">
                <a:latin typeface="Montserrat" pitchFamily="2" charset="0"/>
              </a:rPr>
              <a:t> </a:t>
            </a:r>
            <a:r>
              <a:rPr lang="vi-VN" sz="850">
                <a:latin typeface="Montserrat" pitchFamily="2" charset="0"/>
              </a:rPr>
              <a:t>rằng cung / cầu cán cân nghiêng về cung thay vì cầu</a:t>
            </a:r>
            <a:r>
              <a:rPr lang="vi-VN" sz="850" smtClean="0">
                <a:latin typeface="Montserrat" pitchFamily="2" charset="0"/>
              </a:rPr>
              <a:t>.</a:t>
            </a:r>
            <a:endParaRPr lang="en-US" sz="850">
              <a:latin typeface="Montserrat" pitchFamily="2" charset="0"/>
            </a:endParaRPr>
          </a:p>
        </p:txBody>
      </p:sp>
      <p:sp>
        <p:nvSpPr>
          <p:cNvPr id="10" name="Rectangle 9"/>
          <p:cNvSpPr/>
          <p:nvPr/>
        </p:nvSpPr>
        <p:spPr>
          <a:xfrm>
            <a:off x="3116664" y="1964178"/>
            <a:ext cx="6019800" cy="1269578"/>
          </a:xfrm>
          <a:prstGeom prst="rect">
            <a:avLst/>
          </a:prstGeom>
        </p:spPr>
        <p:txBody>
          <a:bodyPr wrap="square">
            <a:spAutoFit/>
          </a:bodyPr>
          <a:lstStyle/>
          <a:p>
            <a:r>
              <a:rPr lang="en-US" sz="850" b="1" smtClean="0">
                <a:solidFill>
                  <a:srgbClr val="00B0F0"/>
                </a:solidFill>
                <a:latin typeface="Montserrat" pitchFamily="2" charset="0"/>
              </a:rPr>
              <a:t>Phase</a:t>
            </a:r>
            <a:r>
              <a:rPr lang="vi-VN" sz="850" b="1" smtClean="0">
                <a:solidFill>
                  <a:srgbClr val="00B0F0"/>
                </a:solidFill>
                <a:latin typeface="Montserrat" pitchFamily="2" charset="0"/>
              </a:rPr>
              <a:t> </a:t>
            </a:r>
            <a:r>
              <a:rPr lang="vi-VN" sz="850" b="1">
                <a:solidFill>
                  <a:srgbClr val="00B0F0"/>
                </a:solidFill>
                <a:latin typeface="Montserrat" pitchFamily="2" charset="0"/>
              </a:rPr>
              <a:t>C</a:t>
            </a:r>
            <a:r>
              <a:rPr lang="vi-VN" sz="850">
                <a:latin typeface="Montserrat" pitchFamily="2" charset="0"/>
              </a:rPr>
              <a:t>: Trong quá trình phân phối, Giai đoạn C có thể tự </a:t>
            </a:r>
            <a:r>
              <a:rPr lang="en-US" sz="850" smtClean="0">
                <a:latin typeface="Montserrat" pitchFamily="2" charset="0"/>
              </a:rPr>
              <a:t>hình thành </a:t>
            </a:r>
            <a:r>
              <a:rPr lang="vi-VN" sz="850" b="1" smtClean="0">
                <a:latin typeface="Montserrat" pitchFamily="2" charset="0"/>
              </a:rPr>
              <a:t>(UT</a:t>
            </a:r>
            <a:r>
              <a:rPr lang="vi-VN" sz="850" b="1">
                <a:latin typeface="Montserrat" pitchFamily="2" charset="0"/>
              </a:rPr>
              <a:t>) </a:t>
            </a:r>
            <a:r>
              <a:rPr lang="vi-VN" sz="850">
                <a:latin typeface="Montserrat" pitchFamily="2" charset="0"/>
              </a:rPr>
              <a:t>hoặc </a:t>
            </a:r>
            <a:r>
              <a:rPr lang="vi-VN" sz="850" b="1">
                <a:latin typeface="Montserrat" pitchFamily="2" charset="0"/>
              </a:rPr>
              <a:t>UTAD</a:t>
            </a:r>
            <a:r>
              <a:rPr lang="vi-VN" sz="850">
                <a:latin typeface="Montserrat" pitchFamily="2" charset="0"/>
              </a:rPr>
              <a:t>. Như đã lưu ý ở trên, </a:t>
            </a:r>
            <a:r>
              <a:rPr lang="vi-VN" sz="850" b="1" smtClean="0">
                <a:latin typeface="Montserrat" pitchFamily="2" charset="0"/>
              </a:rPr>
              <a:t>UT</a:t>
            </a:r>
            <a:r>
              <a:rPr lang="en-US" sz="850" b="1" smtClean="0">
                <a:latin typeface="Montserrat" pitchFamily="2" charset="0"/>
              </a:rPr>
              <a:t>/UTAD </a:t>
            </a:r>
            <a:r>
              <a:rPr lang="vi-VN" sz="850" b="1" smtClean="0">
                <a:latin typeface="Montserrat" pitchFamily="2" charset="0"/>
              </a:rPr>
              <a:t> </a:t>
            </a:r>
            <a:r>
              <a:rPr lang="vi-VN" sz="850">
                <a:latin typeface="Montserrat" pitchFamily="2" charset="0"/>
              </a:rPr>
              <a:t>ngược lại </a:t>
            </a:r>
            <a:r>
              <a:rPr lang="vi-VN" sz="850" smtClean="0">
                <a:latin typeface="Montserrat" pitchFamily="2" charset="0"/>
              </a:rPr>
              <a:t>Spring. </a:t>
            </a:r>
            <a:r>
              <a:rPr lang="vi-VN" sz="850">
                <a:latin typeface="Montserrat" pitchFamily="2" charset="0"/>
              </a:rPr>
              <a:t>Nó nằm ở mức kháng cự TR nhanh chóng đảo chiều và đóng cửa trong TR. Đây là bài </a:t>
            </a:r>
            <a:r>
              <a:rPr lang="en-US" sz="850" b="1" smtClean="0">
                <a:solidFill>
                  <a:srgbClr val="FF0000"/>
                </a:solidFill>
                <a:latin typeface="Montserrat" pitchFamily="2" charset="0"/>
              </a:rPr>
              <a:t>“</a:t>
            </a:r>
            <a:r>
              <a:rPr lang="vi-VN" sz="850" b="1" smtClean="0">
                <a:solidFill>
                  <a:srgbClr val="FF0000"/>
                </a:solidFill>
                <a:latin typeface="Montserrat" pitchFamily="2" charset="0"/>
              </a:rPr>
              <a:t>kiểm </a:t>
            </a:r>
            <a:r>
              <a:rPr lang="vi-VN" sz="850" b="1">
                <a:solidFill>
                  <a:srgbClr val="FF0000"/>
                </a:solidFill>
                <a:latin typeface="Montserrat" pitchFamily="2" charset="0"/>
              </a:rPr>
              <a:t>tra nguồn cầu còn </a:t>
            </a:r>
            <a:r>
              <a:rPr lang="vi-VN" sz="850" b="1" smtClean="0">
                <a:solidFill>
                  <a:srgbClr val="FF0000"/>
                </a:solidFill>
                <a:latin typeface="Montserrat" pitchFamily="2" charset="0"/>
              </a:rPr>
              <a:t>lại</a:t>
            </a:r>
            <a:r>
              <a:rPr lang="en-US" sz="850" b="1" smtClean="0">
                <a:solidFill>
                  <a:srgbClr val="FF0000"/>
                </a:solidFill>
                <a:latin typeface="Montserrat" pitchFamily="2" charset="0"/>
              </a:rPr>
              <a:t>”</a:t>
            </a:r>
            <a:r>
              <a:rPr lang="vi-VN" sz="850" smtClean="0">
                <a:latin typeface="Montserrat" pitchFamily="2" charset="0"/>
              </a:rPr>
              <a:t>. </a:t>
            </a:r>
            <a:r>
              <a:rPr lang="vi-VN" sz="850">
                <a:latin typeface="Montserrat" pitchFamily="2" charset="0"/>
              </a:rPr>
              <a:t>Nó </a:t>
            </a:r>
            <a:r>
              <a:rPr lang="en-US" sz="850" smtClean="0">
                <a:latin typeface="Montserrat" pitchFamily="2" charset="0"/>
              </a:rPr>
              <a:t>là </a:t>
            </a:r>
            <a:r>
              <a:rPr lang="vi-VN" sz="850" b="1" smtClean="0">
                <a:latin typeface="Montserrat" pitchFamily="2" charset="0"/>
              </a:rPr>
              <a:t>bẫy </a:t>
            </a:r>
            <a:r>
              <a:rPr lang="vi-VN" sz="850" b="1">
                <a:latin typeface="Montserrat" pitchFamily="2" charset="0"/>
              </a:rPr>
              <a:t>tăng giá </a:t>
            </a:r>
            <a:r>
              <a:rPr lang="en-US" sz="850" smtClean="0">
                <a:latin typeface="Montserrat" pitchFamily="2" charset="0"/>
              </a:rPr>
              <a:t>, </a:t>
            </a:r>
            <a:r>
              <a:rPr lang="vi-VN" sz="850" smtClean="0">
                <a:latin typeface="Montserrat" pitchFamily="2" charset="0"/>
              </a:rPr>
              <a:t>dường </a:t>
            </a:r>
            <a:r>
              <a:rPr lang="vi-VN" sz="850">
                <a:latin typeface="Montserrat" pitchFamily="2" charset="0"/>
              </a:rPr>
              <a:t>như báo hiệu sự phục hồi của xu hướng tăng nhưng trên thực tế là nhằm mục đích đánh lừa các nhà giao dịch bằng phá vỡ giả</a:t>
            </a:r>
            <a:r>
              <a:rPr lang="vi-VN" sz="850" b="1">
                <a:latin typeface="Montserrat" pitchFamily="2" charset="0"/>
              </a:rPr>
              <a:t>. UT </a:t>
            </a:r>
            <a:r>
              <a:rPr lang="vi-VN" sz="850">
                <a:latin typeface="Montserrat" pitchFamily="2" charset="0"/>
              </a:rPr>
              <a:t>hoặc </a:t>
            </a:r>
            <a:r>
              <a:rPr lang="vi-VN" sz="850" b="1">
                <a:latin typeface="Montserrat" pitchFamily="2" charset="0"/>
              </a:rPr>
              <a:t>UTAD</a:t>
            </a:r>
            <a:r>
              <a:rPr lang="vi-VN" sz="850">
                <a:latin typeface="Montserrat" pitchFamily="2" charset="0"/>
              </a:rPr>
              <a:t> cho phép nhà điều hành tổng hợp bán thêm sản phẩm với giá cao cho các nhà đầu tư nhỏ lẻ đang mua lên ở mức này . Các </a:t>
            </a:r>
            <a:r>
              <a:rPr lang="en-US" sz="850" smtClean="0">
                <a:latin typeface="Montserrat" pitchFamily="2" charset="0"/>
              </a:rPr>
              <a:t>tổ chức theo dấu chân của tay mạnh </a:t>
            </a:r>
            <a:r>
              <a:rPr lang="vi-VN" sz="850" smtClean="0">
                <a:latin typeface="Montserrat" pitchFamily="2" charset="0"/>
              </a:rPr>
              <a:t>có </a:t>
            </a:r>
            <a:r>
              <a:rPr lang="vi-VN" sz="850">
                <a:latin typeface="Montserrat" pitchFamily="2" charset="0"/>
              </a:rPr>
              <a:t>thể muốn bắt đầu các vị thế bán sau UT hoặc UTAD. Tỷ lệ rủi ro / phần thưởng thường </a:t>
            </a:r>
            <a:r>
              <a:rPr lang="en-US" sz="850" smtClean="0">
                <a:latin typeface="Montserrat" pitchFamily="2" charset="0"/>
              </a:rPr>
              <a:t>rất lớn </a:t>
            </a:r>
            <a:r>
              <a:rPr lang="vi-VN" sz="850" smtClean="0">
                <a:latin typeface="Montserrat" pitchFamily="2" charset="0"/>
              </a:rPr>
              <a:t>. </a:t>
            </a:r>
            <a:r>
              <a:rPr lang="vi-VN" sz="850">
                <a:latin typeface="Montserrat" pitchFamily="2" charset="0"/>
              </a:rPr>
              <a:t>Tuy nhiên</a:t>
            </a:r>
            <a:r>
              <a:rPr lang="vi-VN" sz="850" b="1">
                <a:latin typeface="Montserrat" pitchFamily="2" charset="0"/>
              </a:rPr>
              <a:t>, "tay mạnh" </a:t>
            </a:r>
            <a:r>
              <a:rPr lang="en-US" sz="850" b="1" smtClean="0">
                <a:latin typeface="Montserrat" pitchFamily="2" charset="0"/>
              </a:rPr>
              <a:t> </a:t>
            </a:r>
            <a:r>
              <a:rPr lang="en-US" sz="850" smtClean="0">
                <a:latin typeface="Montserrat" pitchFamily="2" charset="0"/>
              </a:rPr>
              <a:t>tạo ra các </a:t>
            </a:r>
            <a:r>
              <a:rPr lang="en-US" sz="850" b="1" smtClean="0">
                <a:latin typeface="Montserrat" pitchFamily="2" charset="0"/>
              </a:rPr>
              <a:t>UT</a:t>
            </a:r>
            <a:r>
              <a:rPr lang="en-US" sz="850" smtClean="0">
                <a:latin typeface="Montserrat" pitchFamily="2" charset="0"/>
              </a:rPr>
              <a:t> để </a:t>
            </a:r>
            <a:r>
              <a:rPr lang="vi-VN" sz="850" smtClean="0">
                <a:latin typeface="Montserrat" pitchFamily="2" charset="0"/>
              </a:rPr>
              <a:t>liên </a:t>
            </a:r>
            <a:r>
              <a:rPr lang="vi-VN" sz="850">
                <a:latin typeface="Montserrat" pitchFamily="2" charset="0"/>
              </a:rPr>
              <a:t>tục ngăn chặn các nhà giao dịch bắt đầu các vị thế bán </a:t>
            </a:r>
            <a:r>
              <a:rPr lang="vi-VN" sz="850" smtClean="0">
                <a:latin typeface="Montserrat" pitchFamily="2" charset="0"/>
              </a:rPr>
              <a:t>khống, </a:t>
            </a:r>
            <a:r>
              <a:rPr lang="vi-VN" sz="850">
                <a:latin typeface="Montserrat" pitchFamily="2" charset="0"/>
              </a:rPr>
              <a:t>vì vậy thường an toàn hơn nếu đợi đến </a:t>
            </a:r>
            <a:r>
              <a:rPr lang="vi-VN" sz="850" b="1">
                <a:latin typeface="Montserrat" pitchFamily="2" charset="0"/>
              </a:rPr>
              <a:t>Giai đoạn D và </a:t>
            </a:r>
            <a:r>
              <a:rPr lang="en-US" sz="850" b="1" smtClean="0">
                <a:latin typeface="Montserrat" pitchFamily="2" charset="0"/>
              </a:rPr>
              <a:t>xác nhận </a:t>
            </a:r>
            <a:r>
              <a:rPr lang="vi-VN" sz="850" b="1" smtClean="0">
                <a:latin typeface="Montserrat" pitchFamily="2" charset="0"/>
              </a:rPr>
              <a:t>LPSY</a:t>
            </a:r>
            <a:r>
              <a:rPr lang="vi-VN" sz="850" b="1">
                <a:latin typeface="Montserrat" pitchFamily="2" charset="0"/>
              </a:rPr>
              <a:t>.</a:t>
            </a:r>
            <a:endParaRPr lang="en-US" sz="850" b="1">
              <a:latin typeface="Montserrat" pitchFamily="2" charset="0"/>
            </a:endParaRPr>
          </a:p>
        </p:txBody>
      </p:sp>
      <p:sp>
        <p:nvSpPr>
          <p:cNvPr id="12" name="Rectangle 11"/>
          <p:cNvSpPr/>
          <p:nvPr/>
        </p:nvSpPr>
        <p:spPr>
          <a:xfrm>
            <a:off x="3116664" y="3194446"/>
            <a:ext cx="6019800" cy="877163"/>
          </a:xfrm>
          <a:prstGeom prst="rect">
            <a:avLst/>
          </a:prstGeom>
        </p:spPr>
        <p:txBody>
          <a:bodyPr wrap="square">
            <a:spAutoFit/>
          </a:bodyPr>
          <a:lstStyle/>
          <a:p>
            <a:r>
              <a:rPr lang="vi-VN" sz="850" b="1">
                <a:solidFill>
                  <a:srgbClr val="00B0F0"/>
                </a:solidFill>
                <a:latin typeface="Montserrat" pitchFamily="2" charset="0"/>
              </a:rPr>
              <a:t>Phase D</a:t>
            </a:r>
            <a:r>
              <a:rPr lang="vi-VN" sz="850">
                <a:latin typeface="Montserrat" pitchFamily="2" charset="0"/>
              </a:rPr>
              <a:t>: </a:t>
            </a:r>
            <a:r>
              <a:rPr lang="en-US" sz="850" smtClean="0">
                <a:latin typeface="Montserrat" pitchFamily="2" charset="0"/>
              </a:rPr>
              <a:t> </a:t>
            </a:r>
            <a:r>
              <a:rPr lang="vi-VN" sz="850" smtClean="0">
                <a:latin typeface="Montserrat" pitchFamily="2" charset="0"/>
              </a:rPr>
              <a:t>Đến </a:t>
            </a:r>
            <a:r>
              <a:rPr lang="vi-VN" sz="850">
                <a:latin typeface="Montserrat" pitchFamily="2" charset="0"/>
              </a:rPr>
              <a:t>sau khi các kiểm tra thử nghiệm ở Giai đoạn C cho chúng ta thấy nguồn cầu cuối cùng. Trong Giai đoạn D</a:t>
            </a:r>
            <a:r>
              <a:rPr lang="vi-VN" sz="850" smtClean="0">
                <a:latin typeface="Montserrat" pitchFamily="2" charset="0"/>
              </a:rPr>
              <a:t>,</a:t>
            </a:r>
            <a:r>
              <a:rPr lang="en-US" sz="850" smtClean="0">
                <a:latin typeface="Montserrat" pitchFamily="2" charset="0"/>
              </a:rPr>
              <a:t> hành động</a:t>
            </a:r>
            <a:r>
              <a:rPr lang="vi-VN" sz="850" smtClean="0">
                <a:latin typeface="Montserrat" pitchFamily="2" charset="0"/>
              </a:rPr>
              <a:t> giá</a:t>
            </a:r>
            <a:r>
              <a:rPr lang="en-US" sz="850" smtClean="0">
                <a:latin typeface="Montserrat" pitchFamily="2" charset="0"/>
              </a:rPr>
              <a:t> </a:t>
            </a:r>
            <a:r>
              <a:rPr lang="vi-VN" sz="850" smtClean="0">
                <a:latin typeface="Montserrat" pitchFamily="2" charset="0"/>
              </a:rPr>
              <a:t>đi </a:t>
            </a:r>
            <a:r>
              <a:rPr lang="vi-VN" sz="850">
                <a:latin typeface="Montserrat" pitchFamily="2" charset="0"/>
              </a:rPr>
              <a:t>đến </a:t>
            </a:r>
            <a:r>
              <a:rPr lang="en-US" sz="850" smtClean="0">
                <a:latin typeface="Montserrat" pitchFamily="2" charset="0"/>
              </a:rPr>
              <a:t>cam kết dưới mức </a:t>
            </a:r>
            <a:r>
              <a:rPr lang="vi-VN" sz="850" smtClean="0">
                <a:latin typeface="Montserrat" pitchFamily="2" charset="0"/>
              </a:rPr>
              <a:t>hỗ </a:t>
            </a:r>
            <a:r>
              <a:rPr lang="vi-VN" sz="850">
                <a:latin typeface="Montserrat" pitchFamily="2" charset="0"/>
              </a:rPr>
              <a:t>trợ TR. Bằng chứng cho thấy </a:t>
            </a:r>
            <a:r>
              <a:rPr lang="en-US" sz="850" b="1" smtClean="0">
                <a:solidFill>
                  <a:srgbClr val="FF0000"/>
                </a:solidFill>
                <a:latin typeface="Montserrat" pitchFamily="2" charset="0"/>
              </a:rPr>
              <a:t>“</a:t>
            </a:r>
            <a:r>
              <a:rPr lang="vi-VN" sz="850" b="1" smtClean="0">
                <a:solidFill>
                  <a:srgbClr val="FF0000"/>
                </a:solidFill>
                <a:latin typeface="Montserrat" pitchFamily="2" charset="0"/>
              </a:rPr>
              <a:t>nguồn </a:t>
            </a:r>
            <a:r>
              <a:rPr lang="vi-VN" sz="850" b="1">
                <a:solidFill>
                  <a:srgbClr val="FF0000"/>
                </a:solidFill>
                <a:latin typeface="Montserrat" pitchFamily="2" charset="0"/>
              </a:rPr>
              <a:t>cung đang chiếm ưu thế rõ </a:t>
            </a:r>
            <a:r>
              <a:rPr lang="vi-VN" sz="850" b="1" smtClean="0">
                <a:solidFill>
                  <a:srgbClr val="FF0000"/>
                </a:solidFill>
                <a:latin typeface="Montserrat" pitchFamily="2" charset="0"/>
              </a:rPr>
              <a:t>ràng</a:t>
            </a:r>
            <a:r>
              <a:rPr lang="en-US" sz="850" b="1" smtClean="0">
                <a:solidFill>
                  <a:srgbClr val="FF0000"/>
                </a:solidFill>
                <a:latin typeface="Montserrat" pitchFamily="2" charset="0"/>
              </a:rPr>
              <a:t>”</a:t>
            </a:r>
            <a:r>
              <a:rPr lang="vi-VN" sz="850" b="1" smtClean="0">
                <a:solidFill>
                  <a:srgbClr val="FF0000"/>
                </a:solidFill>
                <a:latin typeface="Montserrat" pitchFamily="2" charset="0"/>
              </a:rPr>
              <a:t> </a:t>
            </a:r>
            <a:r>
              <a:rPr lang="en-US" sz="850" smtClean="0">
                <a:latin typeface="Montserrat" pitchFamily="2" charset="0"/>
              </a:rPr>
              <a:t>mức chênh lệch và khối lương </a:t>
            </a:r>
            <a:r>
              <a:rPr lang="vi-VN" sz="850" smtClean="0">
                <a:latin typeface="Montserrat" pitchFamily="2" charset="0"/>
              </a:rPr>
              <a:t>tăng </a:t>
            </a:r>
            <a:r>
              <a:rPr lang="vi-VN" sz="850">
                <a:latin typeface="Montserrat" pitchFamily="2" charset="0"/>
              </a:rPr>
              <a:t>lên kèm theo sự phá vỡ rõ ràngở hỗ trợ hoặc giảm xuống dưới </a:t>
            </a:r>
            <a:r>
              <a:rPr lang="en-US" sz="850" smtClean="0">
                <a:latin typeface="Montserrat" pitchFamily="2" charset="0"/>
              </a:rPr>
              <a:t>vùng </a:t>
            </a:r>
            <a:r>
              <a:rPr lang="vi-VN" sz="850" smtClean="0">
                <a:latin typeface="Montserrat" pitchFamily="2" charset="0"/>
              </a:rPr>
              <a:t> </a:t>
            </a:r>
            <a:r>
              <a:rPr lang="vi-VN" sz="850">
                <a:latin typeface="Montserrat" pitchFamily="2" charset="0"/>
              </a:rPr>
              <a:t>giữa của </a:t>
            </a:r>
            <a:r>
              <a:rPr lang="vi-VN" sz="850" b="1">
                <a:latin typeface="Montserrat" pitchFamily="2" charset="0"/>
              </a:rPr>
              <a:t>TR</a:t>
            </a:r>
            <a:r>
              <a:rPr lang="vi-VN" sz="850">
                <a:latin typeface="Montserrat" pitchFamily="2" charset="0"/>
              </a:rPr>
              <a:t> </a:t>
            </a:r>
            <a:r>
              <a:rPr lang="vi-VN" sz="850" b="1">
                <a:latin typeface="Montserrat" pitchFamily="2" charset="0"/>
              </a:rPr>
              <a:t>sau UT hoặc UTAD</a:t>
            </a:r>
            <a:r>
              <a:rPr lang="vi-VN" sz="850">
                <a:latin typeface="Montserrat" pitchFamily="2" charset="0"/>
              </a:rPr>
              <a:t>. Thường có nhiều lực đẩy yếu </a:t>
            </a:r>
            <a:r>
              <a:rPr lang="vi-VN" sz="850" smtClean="0">
                <a:latin typeface="Montserrat" pitchFamily="2" charset="0"/>
              </a:rPr>
              <a:t>trong </a:t>
            </a:r>
            <a:r>
              <a:rPr lang="vi-VN" sz="850">
                <a:latin typeface="Montserrat" pitchFamily="2" charset="0"/>
              </a:rPr>
              <a:t>Giai đoạn D; những </a:t>
            </a:r>
            <a:r>
              <a:rPr lang="vi-VN" sz="850" b="1">
                <a:latin typeface="Montserrat" pitchFamily="2" charset="0"/>
              </a:rPr>
              <a:t>LPSY</a:t>
            </a:r>
            <a:r>
              <a:rPr lang="vi-VN" sz="850">
                <a:latin typeface="Montserrat" pitchFamily="2" charset="0"/>
              </a:rPr>
              <a:t> này đại diện cho cơ hội tuyệt vời để bắt đầu hoặc thêm vào các vị thế bán. Bất cứ ai vẫn còn ở vị thế mua dài hạn trong Giai đoạn D thì hãy thoát khỏi nhanh chóng.</a:t>
            </a:r>
            <a:endParaRPr lang="en-US" sz="850">
              <a:latin typeface="Montserrat" pitchFamily="2" charset="0"/>
            </a:endParaRPr>
          </a:p>
        </p:txBody>
      </p:sp>
      <p:sp>
        <p:nvSpPr>
          <p:cNvPr id="13" name="Rectangle 12"/>
          <p:cNvSpPr/>
          <p:nvPr/>
        </p:nvSpPr>
        <p:spPr>
          <a:xfrm>
            <a:off x="3116664" y="4053818"/>
            <a:ext cx="6019800" cy="746358"/>
          </a:xfrm>
          <a:prstGeom prst="rect">
            <a:avLst/>
          </a:prstGeom>
        </p:spPr>
        <p:txBody>
          <a:bodyPr wrap="square">
            <a:spAutoFit/>
          </a:bodyPr>
          <a:lstStyle/>
          <a:p>
            <a:r>
              <a:rPr lang="vi-VN" sz="850" b="1">
                <a:solidFill>
                  <a:srgbClr val="00B0F0"/>
                </a:solidFill>
                <a:latin typeface="Montserrat" pitchFamily="2" charset="0"/>
              </a:rPr>
              <a:t>Phase E</a:t>
            </a:r>
            <a:r>
              <a:rPr lang="vi-VN" sz="850">
                <a:latin typeface="Montserrat" pitchFamily="2" charset="0"/>
              </a:rPr>
              <a:t>: Chính thức đi vào xu hướng giảm</a:t>
            </a:r>
            <a:r>
              <a:rPr lang="vi-VN" sz="850" b="1">
                <a:latin typeface="Montserrat" pitchFamily="2" charset="0"/>
              </a:rPr>
              <a:t>;</a:t>
            </a:r>
            <a:r>
              <a:rPr lang="vi-VN" sz="850" b="1">
                <a:solidFill>
                  <a:srgbClr val="FF0000"/>
                </a:solidFill>
                <a:latin typeface="Montserrat" pitchFamily="2" charset="0"/>
              </a:rPr>
              <a:t> </a:t>
            </a:r>
            <a:r>
              <a:rPr lang="en-US" sz="850" b="1" smtClean="0">
                <a:solidFill>
                  <a:srgbClr val="FF0000"/>
                </a:solidFill>
                <a:latin typeface="Montserrat" pitchFamily="2" charset="0"/>
              </a:rPr>
              <a:t>“</a:t>
            </a:r>
            <a:r>
              <a:rPr lang="vi-VN" sz="850" b="1" smtClean="0">
                <a:solidFill>
                  <a:srgbClr val="FF0000"/>
                </a:solidFill>
                <a:latin typeface="Montserrat" pitchFamily="2" charset="0"/>
              </a:rPr>
              <a:t>hành </a:t>
            </a:r>
            <a:r>
              <a:rPr lang="vi-VN" sz="850" b="1">
                <a:solidFill>
                  <a:srgbClr val="FF0000"/>
                </a:solidFill>
                <a:latin typeface="Montserrat" pitchFamily="2" charset="0"/>
              </a:rPr>
              <a:t>động giá rời khỏi </a:t>
            </a:r>
            <a:r>
              <a:rPr lang="vi-VN" sz="850" b="1" smtClean="0">
                <a:solidFill>
                  <a:srgbClr val="FF0000"/>
                </a:solidFill>
                <a:latin typeface="Montserrat" pitchFamily="2" charset="0"/>
              </a:rPr>
              <a:t>TR</a:t>
            </a:r>
            <a:r>
              <a:rPr lang="en-US" sz="850" b="1" smtClean="0">
                <a:solidFill>
                  <a:srgbClr val="FF0000"/>
                </a:solidFill>
                <a:latin typeface="Montserrat" pitchFamily="2" charset="0"/>
              </a:rPr>
              <a:t>”</a:t>
            </a:r>
            <a:r>
              <a:rPr lang="vi-VN" sz="850" b="1" smtClean="0">
                <a:solidFill>
                  <a:srgbClr val="FF0000"/>
                </a:solidFill>
                <a:latin typeface="Montserrat" pitchFamily="2" charset="0"/>
              </a:rPr>
              <a:t> </a:t>
            </a:r>
            <a:r>
              <a:rPr lang="vi-VN" sz="850">
                <a:latin typeface="Montserrat" pitchFamily="2" charset="0"/>
              </a:rPr>
              <a:t>và nguồn cung </a:t>
            </a:r>
            <a:r>
              <a:rPr lang="vi-VN" sz="850" smtClean="0">
                <a:latin typeface="Montserrat" pitchFamily="2" charset="0"/>
              </a:rPr>
              <a:t>kiểm soát</a:t>
            </a:r>
            <a:r>
              <a:rPr lang="en-US" sz="850" smtClean="0">
                <a:latin typeface="Montserrat" pitchFamily="2" charset="0"/>
              </a:rPr>
              <a:t> thị trưởng</a:t>
            </a:r>
            <a:r>
              <a:rPr lang="vi-VN" sz="850" smtClean="0">
                <a:latin typeface="Montserrat" pitchFamily="2" charset="0"/>
              </a:rPr>
              <a:t>. </a:t>
            </a:r>
            <a:r>
              <a:rPr lang="vi-VN" sz="850">
                <a:latin typeface="Montserrat" pitchFamily="2" charset="0"/>
              </a:rPr>
              <a:t>Một khi Hỗ trợ TR bị phá vỡ </a:t>
            </a:r>
            <a:r>
              <a:rPr lang="en-US" sz="850" smtClean="0">
                <a:latin typeface="Montserrat" pitchFamily="2" charset="0"/>
              </a:rPr>
              <a:t>bằng hành động </a:t>
            </a:r>
            <a:r>
              <a:rPr lang="en-US" sz="850" b="1" smtClean="0">
                <a:latin typeface="Montserrat" pitchFamily="2" charset="0"/>
              </a:rPr>
              <a:t>MAJROR </a:t>
            </a:r>
            <a:r>
              <a:rPr lang="vi-VN" sz="850" b="1" smtClean="0">
                <a:latin typeface="Montserrat" pitchFamily="2" charset="0"/>
              </a:rPr>
              <a:t>SOW, </a:t>
            </a:r>
            <a:r>
              <a:rPr lang="vi-VN" sz="850">
                <a:latin typeface="Montserrat" pitchFamily="2" charset="0"/>
              </a:rPr>
              <a:t>sự phá vỡ này thường được kiểm tra với một đợt phục hồi không thành công tại </a:t>
            </a:r>
            <a:r>
              <a:rPr lang="en-US" sz="850" smtClean="0">
                <a:latin typeface="Montserrat" pitchFamily="2" charset="0"/>
              </a:rPr>
              <a:t>các vùng</a:t>
            </a:r>
            <a:r>
              <a:rPr lang="vi-VN" sz="850" smtClean="0">
                <a:latin typeface="Montserrat" pitchFamily="2" charset="0"/>
              </a:rPr>
              <a:t> </a:t>
            </a:r>
            <a:r>
              <a:rPr lang="vi-VN" sz="850">
                <a:latin typeface="Montserrat" pitchFamily="2" charset="0"/>
              </a:rPr>
              <a:t>gần </a:t>
            </a:r>
            <a:r>
              <a:rPr lang="vi-VN" sz="850" smtClean="0">
                <a:latin typeface="Montserrat" pitchFamily="2" charset="0"/>
              </a:rPr>
              <a:t>hỗ</a:t>
            </a:r>
            <a:r>
              <a:rPr lang="en-US" sz="850" smtClean="0">
                <a:latin typeface="Montserrat" pitchFamily="2" charset="0"/>
              </a:rPr>
              <a:t> trợ</a:t>
            </a:r>
            <a:r>
              <a:rPr lang="vi-VN" sz="850" smtClean="0">
                <a:latin typeface="Montserrat" pitchFamily="2" charset="0"/>
              </a:rPr>
              <a:t>. </a:t>
            </a:r>
            <a:r>
              <a:rPr lang="en-US" sz="850" smtClean="0">
                <a:latin typeface="Montserrat" pitchFamily="2" charset="0"/>
              </a:rPr>
              <a:t>Những </a:t>
            </a:r>
            <a:r>
              <a:rPr lang="en-US" sz="850">
                <a:latin typeface="Montserrat" pitchFamily="2" charset="0"/>
              </a:rPr>
              <a:t>l</a:t>
            </a:r>
            <a:r>
              <a:rPr lang="vi-VN" sz="850" smtClean="0">
                <a:latin typeface="Montserrat" pitchFamily="2" charset="0"/>
              </a:rPr>
              <a:t>ực </a:t>
            </a:r>
            <a:r>
              <a:rPr lang="vi-VN" sz="850">
                <a:latin typeface="Montserrat" pitchFamily="2" charset="0"/>
              </a:rPr>
              <a:t>đẩy tiếp theo trong </a:t>
            </a:r>
            <a:r>
              <a:rPr lang="en-US" sz="850" smtClean="0">
                <a:latin typeface="Montserrat" pitchFamily="2" charset="0"/>
              </a:rPr>
              <a:t>sự di chuyển </a:t>
            </a:r>
            <a:r>
              <a:rPr lang="vi-VN" sz="850" smtClean="0">
                <a:latin typeface="Montserrat" pitchFamily="2" charset="0"/>
              </a:rPr>
              <a:t>giảm </a:t>
            </a:r>
            <a:r>
              <a:rPr lang="vi-VN" sz="850">
                <a:latin typeface="Montserrat" pitchFamily="2" charset="0"/>
              </a:rPr>
              <a:t>giá </a:t>
            </a:r>
            <a:r>
              <a:rPr lang="en-US" sz="850" smtClean="0">
                <a:latin typeface="Montserrat" pitchFamily="2" charset="0"/>
              </a:rPr>
              <a:t>này</a:t>
            </a:r>
            <a:r>
              <a:rPr lang="vi-VN" sz="850" smtClean="0">
                <a:latin typeface="Montserrat" pitchFamily="2" charset="0"/>
              </a:rPr>
              <a:t> </a:t>
            </a:r>
            <a:r>
              <a:rPr lang="vi-VN" sz="850">
                <a:latin typeface="Montserrat" pitchFamily="2" charset="0"/>
              </a:rPr>
              <a:t>thường yếu </a:t>
            </a:r>
            <a:r>
              <a:rPr lang="vi-VN" sz="850" smtClean="0">
                <a:latin typeface="Montserrat" pitchFamily="2" charset="0"/>
              </a:rPr>
              <a:t>ớt. </a:t>
            </a:r>
            <a:r>
              <a:rPr lang="vi-VN" sz="850">
                <a:latin typeface="Montserrat" pitchFamily="2" charset="0"/>
              </a:rPr>
              <a:t>Sau một </a:t>
            </a:r>
            <a:r>
              <a:rPr lang="en-US" sz="850" smtClean="0">
                <a:latin typeface="Montserrat" pitchFamily="2" charset="0"/>
              </a:rPr>
              <a:t> sự </a:t>
            </a:r>
            <a:r>
              <a:rPr lang="vi-VN" sz="850" smtClean="0">
                <a:latin typeface="Montserrat" pitchFamily="2" charset="0"/>
              </a:rPr>
              <a:t>di </a:t>
            </a:r>
            <a:r>
              <a:rPr lang="vi-VN" sz="850">
                <a:latin typeface="Montserrat" pitchFamily="2" charset="0"/>
              </a:rPr>
              <a:t>chuyển xuống mạnh mẽ, hành động cao trào bán  có thể báo hiệu sự bắt đầu của </a:t>
            </a:r>
            <a:r>
              <a:rPr lang="vi-VN" sz="850" smtClean="0">
                <a:latin typeface="Montserrat" pitchFamily="2" charset="0"/>
              </a:rPr>
              <a:t>TR</a:t>
            </a:r>
            <a:r>
              <a:rPr lang="en-US" sz="850" smtClean="0">
                <a:latin typeface="Montserrat" pitchFamily="2" charset="0"/>
              </a:rPr>
              <a:t> tái </a:t>
            </a:r>
            <a:r>
              <a:rPr lang="vi-VN" sz="850" smtClean="0">
                <a:latin typeface="Montserrat" pitchFamily="2" charset="0"/>
              </a:rPr>
              <a:t> </a:t>
            </a:r>
            <a:r>
              <a:rPr lang="vi-VN" sz="850">
                <a:latin typeface="Montserrat" pitchFamily="2" charset="0"/>
              </a:rPr>
              <a:t>phân phối </a:t>
            </a:r>
            <a:r>
              <a:rPr lang="vi-VN" sz="850" smtClean="0">
                <a:latin typeface="Montserrat" pitchFamily="2" charset="0"/>
              </a:rPr>
              <a:t> </a:t>
            </a:r>
            <a:r>
              <a:rPr lang="vi-VN" sz="850">
                <a:latin typeface="Montserrat" pitchFamily="2" charset="0"/>
              </a:rPr>
              <a:t>hoặc tích lũy.</a:t>
            </a:r>
            <a:endParaRPr lang="en-US" sz="850">
              <a:latin typeface="Montserrat" pitchFamily="2" charset="0"/>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3124200" cy="2559269"/>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9" y="2559269"/>
            <a:ext cx="3123363" cy="2584231"/>
          </a:xfrm>
          <a:prstGeom prst="rect">
            <a:avLst/>
          </a:prstGeom>
        </p:spPr>
      </p:pic>
      <p:pic>
        <p:nvPicPr>
          <p:cNvPr id="16"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9814222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514600" y="971551"/>
            <a:ext cx="685800" cy="12954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962400" y="971551"/>
            <a:ext cx="1143000" cy="129540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9724440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440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42085475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43825" y="25721"/>
            <a:ext cx="5517857" cy="369332"/>
          </a:xfrm>
          <a:prstGeom prst="rect">
            <a:avLst/>
          </a:prstGeom>
        </p:spPr>
        <p:txBody>
          <a:bodyPr wrap="none">
            <a:spAutoFit/>
          </a:bodyPr>
          <a:lstStyle/>
          <a:p>
            <a:r>
              <a:rPr lang="en-US" b="1">
                <a:solidFill>
                  <a:srgbClr val="002060"/>
                </a:solidFill>
                <a:latin typeface="Montserrat" pitchFamily="2" charset="0"/>
              </a:rPr>
              <a:t>Cấu trúc phân phối với độ dốc hướng xuống</a:t>
            </a:r>
            <a:endParaRPr lang="en-US">
              <a:solidFill>
                <a:srgbClr val="002060"/>
              </a:solidFill>
              <a:latin typeface="Montserrat" pitchFamily="2" charset="0"/>
            </a:endParaRPr>
          </a:p>
        </p:txBody>
      </p:sp>
      <p:sp>
        <p:nvSpPr>
          <p:cNvPr id="4" name="Rectangle 3"/>
          <p:cNvSpPr/>
          <p:nvPr/>
        </p:nvSpPr>
        <p:spPr>
          <a:xfrm>
            <a:off x="5862" y="492424"/>
            <a:ext cx="3384617" cy="1223412"/>
          </a:xfrm>
          <a:prstGeom prst="rect">
            <a:avLst/>
          </a:prstGeom>
        </p:spPr>
        <p:txBody>
          <a:bodyPr wrap="square">
            <a:spAutoFit/>
          </a:bodyPr>
          <a:lstStyle/>
          <a:p>
            <a:r>
              <a:rPr lang="en-US" sz="1050">
                <a:latin typeface="Montserrat" pitchFamily="2" charset="0"/>
              </a:rPr>
              <a:t>Đây là cấu trúc </a:t>
            </a:r>
            <a:r>
              <a:rPr lang="en-US" sz="1050" b="1">
                <a:latin typeface="Montserrat" pitchFamily="2" charset="0"/>
              </a:rPr>
              <a:t>phân phối yếu nhất</a:t>
            </a:r>
            <a:r>
              <a:rPr lang="en-US" sz="1050">
                <a:latin typeface="Montserrat" pitchFamily="2" charset="0"/>
              </a:rPr>
              <a:t>. Sau khi xác định được các sự kiện đầu tiên cho thấy sự dừng lại của xu hướng trước đó, điều kiện thuận lợi cho sự suy yếu tràn ngập thị trường sẽ gây ra sự phát triển của các chuyển động tiếp theo dưới dạng độ cao </a:t>
            </a:r>
            <a:r>
              <a:rPr lang="en-US" sz="1050" b="1">
                <a:latin typeface="Montserrat" pitchFamily="2" charset="0"/>
              </a:rPr>
              <a:t>của đỉnh và đáy giảm dần</a:t>
            </a:r>
            <a:r>
              <a:rPr lang="en-US" sz="1050">
                <a:latin typeface="Montserrat" pitchFamily="2" charset="0"/>
              </a:rPr>
              <a:t>.</a:t>
            </a:r>
          </a:p>
        </p:txBody>
      </p:sp>
      <p:sp>
        <p:nvSpPr>
          <p:cNvPr id="5" name="Rectangle 4"/>
          <p:cNvSpPr/>
          <p:nvPr/>
        </p:nvSpPr>
        <p:spPr>
          <a:xfrm>
            <a:off x="-19261" y="1661280"/>
            <a:ext cx="3428999" cy="577081"/>
          </a:xfrm>
          <a:prstGeom prst="rect">
            <a:avLst/>
          </a:prstGeom>
        </p:spPr>
        <p:txBody>
          <a:bodyPr wrap="square">
            <a:spAutoFit/>
          </a:bodyPr>
          <a:lstStyle/>
          <a:p>
            <a:r>
              <a:rPr lang="en-US" sz="1050">
                <a:latin typeface="Montserrat" pitchFamily="2" charset="0"/>
              </a:rPr>
              <a:t>Có thể thấy, xuất hiện một </a:t>
            </a:r>
            <a:r>
              <a:rPr lang="en-US" sz="1050" b="1">
                <a:latin typeface="Montserrat" pitchFamily="2" charset="0"/>
              </a:rPr>
              <a:t>kênh đi xuống </a:t>
            </a:r>
            <a:r>
              <a:rPr lang="en-US" sz="1050">
                <a:latin typeface="Montserrat" pitchFamily="2" charset="0"/>
              </a:rPr>
              <a:t>- nơi giá bật ra khỏi các </a:t>
            </a:r>
            <a:r>
              <a:rPr lang="en-US" sz="1050" smtClean="0">
                <a:latin typeface="Montserrat" pitchFamily="2" charset="0"/>
              </a:rPr>
              <a:t>cực trị </a:t>
            </a:r>
            <a:r>
              <a:rPr lang="en-US" sz="1050">
                <a:latin typeface="Montserrat" pitchFamily="2" charset="0"/>
              </a:rPr>
              <a:t>của nó theo các diễn biến</a:t>
            </a:r>
          </a:p>
        </p:txBody>
      </p:sp>
      <p:sp>
        <p:nvSpPr>
          <p:cNvPr id="6" name="Rectangle 5"/>
          <p:cNvSpPr/>
          <p:nvPr/>
        </p:nvSpPr>
        <p:spPr>
          <a:xfrm>
            <a:off x="-30145" y="2238361"/>
            <a:ext cx="3450769" cy="1061829"/>
          </a:xfrm>
          <a:prstGeom prst="rect">
            <a:avLst/>
          </a:prstGeom>
        </p:spPr>
        <p:txBody>
          <a:bodyPr wrap="square">
            <a:spAutoFit/>
          </a:bodyPr>
          <a:lstStyle/>
          <a:p>
            <a:r>
              <a:rPr lang="en-US" sz="1050" smtClean="0">
                <a:latin typeface="Montserrat" pitchFamily="2" charset="0"/>
              </a:rPr>
              <a:t>Chìa khóa là sự </a:t>
            </a:r>
            <a:r>
              <a:rPr lang="en-US" sz="1050" b="1" smtClean="0">
                <a:latin typeface="Montserrat" pitchFamily="2" charset="0"/>
              </a:rPr>
              <a:t>thử nghiệm giai </a:t>
            </a:r>
            <a:r>
              <a:rPr lang="en-US" sz="1050" b="1">
                <a:latin typeface="Montserrat" pitchFamily="2" charset="0"/>
              </a:rPr>
              <a:t>đoạn C </a:t>
            </a:r>
            <a:r>
              <a:rPr lang="en-US" sz="1050">
                <a:latin typeface="Montserrat" pitchFamily="2" charset="0"/>
              </a:rPr>
              <a:t>làm phát sinh chuyển động phá vỡ đi </a:t>
            </a:r>
            <a:r>
              <a:rPr lang="en-US" sz="1050" smtClean="0">
                <a:latin typeface="Montserrat" pitchFamily="2" charset="0"/>
              </a:rPr>
              <a:t>xuống</a:t>
            </a:r>
            <a:r>
              <a:rPr lang="en-US" sz="1050">
                <a:latin typeface="Montserrat" pitchFamily="2" charset="0"/>
              </a:rPr>
              <a:t> </a:t>
            </a:r>
            <a:r>
              <a:rPr lang="en-US" sz="1050" smtClean="0">
                <a:latin typeface="Montserrat" pitchFamily="2" charset="0"/>
              </a:rPr>
              <a:t>(trong </a:t>
            </a:r>
            <a:r>
              <a:rPr lang="en-US" sz="1050">
                <a:latin typeface="Montserrat" pitchFamily="2" charset="0"/>
              </a:rPr>
              <a:t>trường hợp này là </a:t>
            </a:r>
            <a:r>
              <a:rPr lang="en-US" sz="1050" b="1" smtClean="0">
                <a:latin typeface="Montserrat" pitchFamily="2" charset="0"/>
              </a:rPr>
              <a:t>UTAD</a:t>
            </a:r>
            <a:r>
              <a:rPr lang="en-US" sz="1050" smtClean="0">
                <a:latin typeface="Montserrat" pitchFamily="2" charset="0"/>
              </a:rPr>
              <a:t>. </a:t>
            </a:r>
            <a:r>
              <a:rPr lang="en-US" sz="1050">
                <a:latin typeface="Montserrat" pitchFamily="2" charset="0"/>
              </a:rPr>
              <a:t>Nhiều ý kiến cho rằng sự kiện này tăng thêm sự tự tin cho người vận hành khi thiết lập các kịch bản và do đó chúng ta nên đợi sự xuất hiện của nó.</a:t>
            </a:r>
          </a:p>
        </p:txBody>
      </p:sp>
      <p:sp>
        <p:nvSpPr>
          <p:cNvPr id="7" name="Rectangle 6"/>
          <p:cNvSpPr/>
          <p:nvPr/>
        </p:nvSpPr>
        <p:spPr>
          <a:xfrm>
            <a:off x="-30145" y="3369791"/>
            <a:ext cx="3420624" cy="900246"/>
          </a:xfrm>
          <a:prstGeom prst="rect">
            <a:avLst/>
          </a:prstGeom>
        </p:spPr>
        <p:txBody>
          <a:bodyPr wrap="square">
            <a:spAutoFit/>
          </a:bodyPr>
          <a:lstStyle/>
          <a:p>
            <a:r>
              <a:rPr lang="en-US" sz="1050" smtClean="0">
                <a:latin typeface="Montserrat" pitchFamily="2" charset="0"/>
              </a:rPr>
              <a:t>Cú sốc vượt ra khỏi </a:t>
            </a:r>
            <a:r>
              <a:rPr lang="en-US" sz="1050" b="1" smtClean="0">
                <a:latin typeface="Montserrat" pitchFamily="2" charset="0"/>
              </a:rPr>
              <a:t>biên trên </a:t>
            </a:r>
            <a:r>
              <a:rPr lang="en-US" sz="1050" smtClean="0">
                <a:latin typeface="Montserrat" pitchFamily="2" charset="0"/>
              </a:rPr>
              <a:t>cấu trúc cho </a:t>
            </a:r>
            <a:r>
              <a:rPr lang="en-US" sz="1050">
                <a:latin typeface="Montserrat" pitchFamily="2" charset="0"/>
              </a:rPr>
              <a:t>thấy tình trạng </a:t>
            </a:r>
            <a:r>
              <a:rPr lang="en-US" sz="1050" b="1">
                <a:latin typeface="Montserrat" pitchFamily="2" charset="0"/>
              </a:rPr>
              <a:t>mua quá </a:t>
            </a:r>
            <a:r>
              <a:rPr lang="en-US" sz="1050" b="1" smtClean="0">
                <a:latin typeface="Montserrat" pitchFamily="2" charset="0"/>
              </a:rPr>
              <a:t>nhiều</a:t>
            </a:r>
            <a:r>
              <a:rPr lang="en-US" sz="1050" smtClean="0">
                <a:latin typeface="Montserrat" pitchFamily="2" charset="0"/>
              </a:rPr>
              <a:t>. </a:t>
            </a:r>
            <a:r>
              <a:rPr lang="en-US" sz="1050">
                <a:latin typeface="Montserrat" pitchFamily="2" charset="0"/>
              </a:rPr>
              <a:t>Cú sốc càng lớn và rõ ràng, nó sẽ càng khẳng định sự thật là nó đã chiếm được thanh khoản lớn hơn và do đó, chuyển động </a:t>
            </a:r>
            <a:r>
              <a:rPr lang="en-US" sz="1050" smtClean="0">
                <a:latin typeface="Montserrat" pitchFamily="2" charset="0"/>
              </a:rPr>
              <a:t>đảo chiều sẽ </a:t>
            </a:r>
            <a:r>
              <a:rPr lang="en-US" sz="1050">
                <a:latin typeface="Montserrat" pitchFamily="2" charset="0"/>
              </a:rPr>
              <a:t>có xung lực lớn hơn.</a:t>
            </a:r>
          </a:p>
        </p:txBody>
      </p:sp>
      <p:sp>
        <p:nvSpPr>
          <p:cNvPr id="8" name="Rectangle 7"/>
          <p:cNvSpPr/>
          <p:nvPr/>
        </p:nvSpPr>
        <p:spPr>
          <a:xfrm>
            <a:off x="0" y="4270037"/>
            <a:ext cx="3390479" cy="900246"/>
          </a:xfrm>
          <a:prstGeom prst="rect">
            <a:avLst/>
          </a:prstGeom>
        </p:spPr>
        <p:txBody>
          <a:bodyPr wrap="square">
            <a:spAutoFit/>
          </a:bodyPr>
          <a:lstStyle/>
          <a:p>
            <a:r>
              <a:rPr lang="en-US" sz="1050">
                <a:latin typeface="Montserrat" pitchFamily="2" charset="0"/>
              </a:rPr>
              <a:t>Kịch bản này chắc chắn khó giao </a:t>
            </a:r>
            <a:r>
              <a:rPr lang="en-US" sz="1050" smtClean="0">
                <a:latin typeface="Montserrat" pitchFamily="2" charset="0"/>
              </a:rPr>
              <a:t>dịch. </a:t>
            </a:r>
            <a:r>
              <a:rPr lang="en-US" sz="1050">
                <a:latin typeface="Montserrat" pitchFamily="2" charset="0"/>
              </a:rPr>
              <a:t>Do người bán có quyền kiểm soát gần như hoàn toàn, giá sẽ di chuyển rất nhanh. Chúng ta phải hoàn toàn tập trung, nếu không chúng ta có khả năng bỏ lỡ sự vận động này</a:t>
            </a:r>
            <a:r>
              <a:rPr lang="en-US" sz="1050" smtClean="0">
                <a:latin typeface="Montserrat" pitchFamily="2" charset="0"/>
              </a:rPr>
              <a:t> </a:t>
            </a:r>
            <a:endParaRPr lang="en-US" sz="1050">
              <a:latin typeface="Montserrat" pitchFamily="2"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0479" y="395053"/>
            <a:ext cx="5753521" cy="4748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8458267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radingView Chart"/>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p:spPr>
      </p:pic>
      <p:pic>
        <p:nvPicPr>
          <p:cNvPr id="4"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4215547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 y="0"/>
            <a:ext cx="9138976" cy="5143500"/>
          </a:xfrm>
          <a:prstGeom prst="rect">
            <a:avLst/>
          </a:prstGeom>
          <a:noFill/>
          <a:extLst>
            <a:ext uri="{909E8E84-426E-40DD-AFC4-6F175D3DCCD1}">
              <a14:hiddenFill xmlns:a14="http://schemas.microsoft.com/office/drawing/2010/main">
                <a:solidFill>
                  <a:srgbClr val="FFFFFF"/>
                </a:solidFill>
              </a14:hiddenFill>
            </a:ext>
          </a:extLst>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34182937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9800" y="0"/>
            <a:ext cx="5184433" cy="369332"/>
          </a:xfrm>
          <a:prstGeom prst="rect">
            <a:avLst/>
          </a:prstGeom>
        </p:spPr>
        <p:txBody>
          <a:bodyPr wrap="none">
            <a:spAutoFit/>
          </a:bodyPr>
          <a:lstStyle/>
          <a:p>
            <a:r>
              <a:rPr lang="en-US" b="1">
                <a:solidFill>
                  <a:srgbClr val="002060"/>
                </a:solidFill>
                <a:latin typeface="Montserrat" pitchFamily="2" charset="0"/>
              </a:rPr>
              <a:t>Cấu trúc phân phối với độ dốc hướng lên:</a:t>
            </a:r>
            <a:endParaRPr lang="en-US">
              <a:solidFill>
                <a:srgbClr val="002060"/>
              </a:solidFill>
              <a:latin typeface="Montserrat" pitchFamily="2" charset="0"/>
            </a:endParaRPr>
          </a:p>
        </p:txBody>
      </p:sp>
      <p:sp>
        <p:nvSpPr>
          <p:cNvPr id="4" name="Rectangle 3"/>
          <p:cNvSpPr/>
          <p:nvPr/>
        </p:nvSpPr>
        <p:spPr>
          <a:xfrm>
            <a:off x="0" y="369332"/>
            <a:ext cx="3244990" cy="1546577"/>
          </a:xfrm>
          <a:prstGeom prst="rect">
            <a:avLst/>
          </a:prstGeom>
        </p:spPr>
        <p:txBody>
          <a:bodyPr wrap="square">
            <a:spAutoFit/>
          </a:bodyPr>
          <a:lstStyle/>
          <a:p>
            <a:r>
              <a:rPr lang="en-US" sz="1050" smtClean="0">
                <a:latin typeface="Montserrat" pitchFamily="2" charset="0"/>
              </a:rPr>
              <a:t>Cấu trúc thể </a:t>
            </a:r>
            <a:r>
              <a:rPr lang="en-US" sz="1050">
                <a:latin typeface="Montserrat" pitchFamily="2" charset="0"/>
              </a:rPr>
              <a:t>hiện </a:t>
            </a:r>
            <a:r>
              <a:rPr lang="en-US" sz="1050" b="1">
                <a:latin typeface="Montserrat" pitchFamily="2" charset="0"/>
              </a:rPr>
              <a:t>một sức mạnh nhất định</a:t>
            </a:r>
            <a:r>
              <a:rPr lang="en-US" sz="1050">
                <a:latin typeface="Montserrat" pitchFamily="2" charset="0"/>
              </a:rPr>
              <a:t>, cho thây nhu cầu lớn của người mua áp đảo người bán bằng chứng là sự liên tiếp của </a:t>
            </a:r>
            <a:r>
              <a:rPr lang="en-US" sz="1050" smtClean="0">
                <a:latin typeface="Montserrat" pitchFamily="2" charset="0"/>
              </a:rPr>
              <a:t>đỉnh đáy </a:t>
            </a:r>
            <a:r>
              <a:rPr lang="en-US" sz="1050">
                <a:latin typeface="Montserrat" pitchFamily="2" charset="0"/>
              </a:rPr>
              <a:t>mới cao hơn </a:t>
            </a:r>
            <a:r>
              <a:rPr lang="en-US" sz="1050" smtClean="0">
                <a:latin typeface="Montserrat" pitchFamily="2" charset="0"/>
              </a:rPr>
              <a:t>đỉnh đáy cũ ,cho </a:t>
            </a:r>
            <a:r>
              <a:rPr lang="en-US" sz="1050">
                <a:latin typeface="Montserrat" pitchFamily="2" charset="0"/>
              </a:rPr>
              <a:t>đến khi, trong bước phát triển cuối cùng, </a:t>
            </a:r>
            <a:r>
              <a:rPr lang="en-US" sz="1050" b="1">
                <a:latin typeface="Montserrat" pitchFamily="2" charset="0"/>
              </a:rPr>
              <a:t>sự quyết liệt của người bán</a:t>
            </a:r>
            <a:r>
              <a:rPr lang="en-US" sz="1050">
                <a:latin typeface="Montserrat" pitchFamily="2" charset="0"/>
              </a:rPr>
              <a:t> trở nên rõ ràng ngăn chặn giá không đẩy lên được </a:t>
            </a:r>
            <a:r>
              <a:rPr lang="en-US" sz="1050" smtClean="0">
                <a:latin typeface="Montserrat" pitchFamily="2" charset="0"/>
              </a:rPr>
              <a:t>nữa, </a:t>
            </a:r>
            <a:r>
              <a:rPr lang="en-US" sz="1050">
                <a:latin typeface="Montserrat" pitchFamily="2" charset="0"/>
              </a:rPr>
              <a:t>bán nhiều hàng hơn xoay chuyển cấu trúc thành </a:t>
            </a:r>
            <a:r>
              <a:rPr lang="en-US" sz="1050" b="1">
                <a:latin typeface="Montserrat" pitchFamily="2" charset="0"/>
              </a:rPr>
              <a:t>quá trình phân phối</a:t>
            </a:r>
            <a:r>
              <a:rPr lang="en-US" sz="1050">
                <a:latin typeface="Montserrat" pitchFamily="2" charset="0"/>
              </a:rPr>
              <a:t>.</a:t>
            </a:r>
          </a:p>
        </p:txBody>
      </p:sp>
      <p:sp>
        <p:nvSpPr>
          <p:cNvPr id="5" name="Rectangle 4"/>
          <p:cNvSpPr/>
          <p:nvPr/>
        </p:nvSpPr>
        <p:spPr>
          <a:xfrm>
            <a:off x="1" y="1922373"/>
            <a:ext cx="3244990" cy="1061829"/>
          </a:xfrm>
          <a:prstGeom prst="rect">
            <a:avLst/>
          </a:prstGeom>
        </p:spPr>
        <p:txBody>
          <a:bodyPr wrap="square">
            <a:spAutoFit/>
          </a:bodyPr>
          <a:lstStyle/>
          <a:p>
            <a:r>
              <a:rPr lang="en-US" sz="1050">
                <a:latin typeface="Montserrat" pitchFamily="2" charset="0"/>
              </a:rPr>
              <a:t>Rút ngắn động lượng </a:t>
            </a:r>
            <a:r>
              <a:rPr lang="en-US" sz="1050" b="1">
                <a:latin typeface="Montserrat" pitchFamily="2" charset="0"/>
              </a:rPr>
              <a:t>SOT</a:t>
            </a:r>
            <a:r>
              <a:rPr lang="en-US" sz="1050">
                <a:latin typeface="Montserrat" pitchFamily="2" charset="0"/>
              </a:rPr>
              <a:t> , một hành động hữu  ích để đánh giá sự thiếu quan tầm của người mua trong sự phát triển giá trị ở vùng giá gần kháng cự . Trong trường hợp này, giá có thể tạo ra đỉnh mới nhưng đỉnh mới thấp hơn đỉnh cũ, cho thấy sự </a:t>
            </a:r>
            <a:r>
              <a:rPr lang="en-US" sz="1050" b="1">
                <a:latin typeface="Montserrat" pitchFamily="2" charset="0"/>
              </a:rPr>
              <a:t>thiếu động </a:t>
            </a:r>
            <a:r>
              <a:rPr lang="en-US" sz="1050" b="1" smtClean="0">
                <a:latin typeface="Montserrat" pitchFamily="2" charset="0"/>
              </a:rPr>
              <a:t>lượng.</a:t>
            </a:r>
            <a:endParaRPr lang="en-US" sz="1050" b="1">
              <a:latin typeface="Montserrat" pitchFamily="2" charset="0"/>
            </a:endParaRPr>
          </a:p>
        </p:txBody>
      </p:sp>
      <p:sp>
        <p:nvSpPr>
          <p:cNvPr id="6" name="Rectangle 5"/>
          <p:cNvSpPr/>
          <p:nvPr/>
        </p:nvSpPr>
        <p:spPr>
          <a:xfrm>
            <a:off x="1" y="2968391"/>
            <a:ext cx="3244989" cy="900246"/>
          </a:xfrm>
          <a:prstGeom prst="rect">
            <a:avLst/>
          </a:prstGeom>
        </p:spPr>
        <p:txBody>
          <a:bodyPr wrap="square">
            <a:spAutoFit/>
          </a:bodyPr>
          <a:lstStyle/>
          <a:p>
            <a:r>
              <a:rPr lang="en-US" sz="1050">
                <a:latin typeface="Montserrat" pitchFamily="2" charset="0"/>
              </a:rPr>
              <a:t>Hoặc hành động giá không thể tiến tới những điểm chạm trước đó  trong cấu trúc cho thấy nỗ lực không đủ lớn cũng như là hành động nguồn cung bắt đầu tăng lên và nhiều nhất từ khi phát triển cấu trúc .</a:t>
            </a:r>
          </a:p>
        </p:txBody>
      </p:sp>
      <p:sp>
        <p:nvSpPr>
          <p:cNvPr id="7" name="Rectangle 6"/>
          <p:cNvSpPr/>
          <p:nvPr/>
        </p:nvSpPr>
        <p:spPr>
          <a:xfrm>
            <a:off x="0" y="3868637"/>
            <a:ext cx="3244990" cy="900246"/>
          </a:xfrm>
          <a:prstGeom prst="rect">
            <a:avLst/>
          </a:prstGeom>
        </p:spPr>
        <p:txBody>
          <a:bodyPr wrap="square">
            <a:spAutoFit/>
          </a:bodyPr>
          <a:lstStyle/>
          <a:p>
            <a:r>
              <a:rPr lang="en-US" sz="1050">
                <a:latin typeface="Montserrat" pitchFamily="2" charset="0"/>
              </a:rPr>
              <a:t>Như mọi khi, cấu trúc có một phẩm chất phân phối khi có sự </a:t>
            </a:r>
            <a:r>
              <a:rPr lang="en-US" sz="1050" b="1">
                <a:latin typeface="Montserrat" pitchFamily="2" charset="0"/>
              </a:rPr>
              <a:t>rung chuyển (UTAD</a:t>
            </a:r>
            <a:r>
              <a:rPr lang="en-US" sz="1050">
                <a:latin typeface="Montserrat" pitchFamily="2" charset="0"/>
              </a:rPr>
              <a:t>) ở phần trên cùng của cấu trúc ở dạng dư thừa đạt đến tình trạng mua quá mức; hoặc đến một số mức tối đa trước đó có liên quan.</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990" y="371216"/>
            <a:ext cx="5899010" cy="477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649310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radingView Chart"/>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7227942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96"/>
            <a:ext cx="9144000" cy="5139104"/>
          </a:xfrm>
          <a:prstGeom prst="rect">
            <a:avLst/>
          </a:prstGeom>
          <a:noFill/>
          <a:extLst>
            <a:ext uri="{909E8E84-426E-40DD-AFC4-6F175D3DCCD1}">
              <a14:hiddenFill xmlns:a14="http://schemas.microsoft.com/office/drawing/2010/main">
                <a:solidFill>
                  <a:srgbClr val="FFFFFF"/>
                </a:solidFill>
              </a14:hiddenFill>
            </a:ext>
          </a:extLst>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8225900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21" y="742950"/>
            <a:ext cx="2615921" cy="769441"/>
          </a:xfrm>
          <a:prstGeom prst="rect">
            <a:avLst/>
          </a:prstGeom>
        </p:spPr>
        <p:txBody>
          <a:bodyPr wrap="square">
            <a:spAutoFit/>
          </a:bodyPr>
          <a:lstStyle/>
          <a:p>
            <a:r>
              <a:rPr lang="vi-VN" sz="1100">
                <a:latin typeface="Montserrat" pitchFamily="2" charset="0"/>
              </a:rPr>
              <a:t>Trong quá trình phân phối, </a:t>
            </a:r>
            <a:r>
              <a:rPr lang="vi-VN" sz="1100" b="1">
                <a:latin typeface="Montserrat" pitchFamily="2" charset="0"/>
              </a:rPr>
              <a:t>khối lượng cao hoặc bất thường </a:t>
            </a:r>
            <a:r>
              <a:rPr lang="vi-VN" sz="1100">
                <a:latin typeface="Montserrat" pitchFamily="2" charset="0"/>
              </a:rPr>
              <a:t>có thể được xác định trong quá trình phát triển phạm vi phân phối.</a:t>
            </a:r>
            <a:endParaRPr lang="en-US" sz="1100">
              <a:latin typeface="Montserrat" pitchFamily="2" charset="0"/>
            </a:endParaRPr>
          </a:p>
        </p:txBody>
      </p:sp>
      <p:sp>
        <p:nvSpPr>
          <p:cNvPr id="3" name="Rectangle 2"/>
          <p:cNvSpPr/>
          <p:nvPr/>
        </p:nvSpPr>
        <p:spPr>
          <a:xfrm>
            <a:off x="-20097" y="1809750"/>
            <a:ext cx="2610897" cy="3139321"/>
          </a:xfrm>
          <a:prstGeom prst="rect">
            <a:avLst/>
          </a:prstGeom>
        </p:spPr>
        <p:txBody>
          <a:bodyPr wrap="square">
            <a:spAutoFit/>
          </a:bodyPr>
          <a:lstStyle/>
          <a:p>
            <a:r>
              <a:rPr lang="vi-VN" sz="1100">
                <a:latin typeface="Montserrat" pitchFamily="2" charset="0"/>
              </a:rPr>
              <a:t>Quá trình phân phối diễn ra khác hoàn toàn. Một đặc điểm quan trọng của các quá trình này là chúng có </a:t>
            </a:r>
            <a:r>
              <a:rPr lang="vi-VN" sz="1100" b="1">
                <a:latin typeface="Montserrat" pitchFamily="2" charset="0"/>
              </a:rPr>
              <a:t>xu hướng phát triển nhanh hơn </a:t>
            </a:r>
            <a:r>
              <a:rPr lang="vi-VN" sz="1100">
                <a:latin typeface="Montserrat" pitchFamily="2" charset="0"/>
              </a:rPr>
              <a:t>nhiều so với các quá trình tích lũy. Và đây là lý do tại sao bạn có thể thấy sự biến động lớn về giá và khối lượng giao dịch cao liên tiếp. Thời gian ngắn hơn này buộc phải thực hiện các giao dịch với tốc độ nhất định; trong khi ở quá trình tích lũy, một lượng thời gian nhất định được tiêu thụ cho đến khi các </a:t>
            </a:r>
            <a:r>
              <a:rPr lang="en-US" sz="1100" smtClean="0">
                <a:latin typeface="Montserrat" pitchFamily="2" charset="0"/>
              </a:rPr>
              <a:t>sản phẩm </a:t>
            </a:r>
            <a:r>
              <a:rPr lang="vi-VN" sz="1100" smtClean="0">
                <a:latin typeface="Montserrat" pitchFamily="2" charset="0"/>
              </a:rPr>
              <a:t>đã </a:t>
            </a:r>
            <a:r>
              <a:rPr lang="vi-VN" sz="1100">
                <a:latin typeface="Montserrat" pitchFamily="2" charset="0"/>
              </a:rPr>
              <a:t>được bán hết, trong quá trình phân phối, sự cấp bách phải bán gây ra sự phát triển nhanh chóng kèm theo sự biến động cao.</a:t>
            </a:r>
            <a:endParaRPr lang="en-US" sz="1100">
              <a:latin typeface="Montserrat" pitchFamily="2" charset="0"/>
            </a:endParaRPr>
          </a:p>
        </p:txBody>
      </p:sp>
      <p:sp>
        <p:nvSpPr>
          <p:cNvPr id="4" name="TextBox 3"/>
          <p:cNvSpPr txBox="1"/>
          <p:nvPr/>
        </p:nvSpPr>
        <p:spPr>
          <a:xfrm>
            <a:off x="1562519" y="0"/>
            <a:ext cx="6482865" cy="369332"/>
          </a:xfrm>
          <a:prstGeom prst="rect">
            <a:avLst/>
          </a:prstGeom>
          <a:noFill/>
        </p:spPr>
        <p:txBody>
          <a:bodyPr wrap="none" rtlCol="0">
            <a:spAutoFit/>
          </a:bodyPr>
          <a:lstStyle/>
          <a:p>
            <a:r>
              <a:rPr lang="en-US" b="1" smtClean="0">
                <a:solidFill>
                  <a:srgbClr val="002060"/>
                </a:solidFill>
                <a:latin typeface="Montserrat" pitchFamily="2" charset="0"/>
              </a:rPr>
              <a:t>Khối lượng tổng thể trong việc phát triển Phân phối</a:t>
            </a:r>
            <a:endParaRPr lang="en-US" b="1">
              <a:solidFill>
                <a:srgbClr val="002060"/>
              </a:solidFill>
              <a:latin typeface="Montserrat" pitchFamily="2"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1" y="369332"/>
            <a:ext cx="6553200" cy="4774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43396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2" y="0"/>
            <a:ext cx="9128927" cy="5143500"/>
          </a:xfrm>
          <a:prstGeom prst="rect">
            <a:avLst/>
          </a:prstGeom>
          <a:noFill/>
          <a:extLst>
            <a:ext uri="{909E8E84-426E-40DD-AFC4-6F175D3DCCD1}">
              <a14:hiddenFill xmlns:a14="http://schemas.microsoft.com/office/drawing/2010/main">
                <a:solidFill>
                  <a:srgbClr val="FFFFFF"/>
                </a:solidFill>
              </a14:hiddenFill>
            </a:ext>
          </a:extLst>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30982362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461665"/>
            <a:ext cx="2590800" cy="4832092"/>
          </a:xfrm>
          <a:prstGeom prst="rect">
            <a:avLst/>
          </a:prstGeom>
        </p:spPr>
        <p:txBody>
          <a:bodyPr wrap="square">
            <a:spAutoFit/>
          </a:bodyPr>
          <a:lstStyle/>
          <a:p>
            <a:r>
              <a:rPr lang="en-US" sz="1100" b="1">
                <a:latin typeface="Montserrat" pitchFamily="2" charset="0"/>
              </a:rPr>
              <a:t>Dấu hiệu khối lượng #1 : </a:t>
            </a:r>
            <a:r>
              <a:rPr lang="en-US" sz="1100">
                <a:latin typeface="Montserrat" pitchFamily="2" charset="0"/>
              </a:rPr>
              <a:t>Dấu hiệu nguồn cung tăng từ </a:t>
            </a:r>
            <a:r>
              <a:rPr lang="en-US" sz="1100" b="1">
                <a:latin typeface="Montserrat" pitchFamily="2" charset="0"/>
              </a:rPr>
              <a:t>Phase A- D </a:t>
            </a:r>
            <a:r>
              <a:rPr lang="en-US" sz="1100">
                <a:latin typeface="Montserrat" pitchFamily="2" charset="0"/>
              </a:rPr>
              <a:t>, </a:t>
            </a:r>
            <a:r>
              <a:rPr lang="en-US" sz="1100" smtClean="0">
                <a:latin typeface="Montserrat" pitchFamily="2" charset="0"/>
              </a:rPr>
              <a:t>thể </a:t>
            </a:r>
            <a:r>
              <a:rPr lang="en-US" sz="1100">
                <a:latin typeface="Montserrat" pitchFamily="2" charset="0"/>
              </a:rPr>
              <a:t>hiện các phản ứng giảm sẽ tăng dần từ trái sang phải nơi mà tay mạnh sẽ thực hiện bán từng phần với số lượng tăng dần thể hiện thông qua khối lượng , chúng ta có thể thấy việc tăng nguồn cung ở phase B, khiến tạo ra những hành động suy yếu giá nhỏ như </a:t>
            </a:r>
            <a:r>
              <a:rPr lang="en-US" sz="1100" b="1" smtClean="0">
                <a:latin typeface="Montserrat" pitchFamily="2" charset="0"/>
              </a:rPr>
              <a:t>minor SOW </a:t>
            </a:r>
            <a:r>
              <a:rPr lang="en-US" sz="1100">
                <a:latin typeface="Montserrat" pitchFamily="2" charset="0"/>
              </a:rPr>
              <a:t>tiếp tục </a:t>
            </a:r>
            <a:r>
              <a:rPr lang="en-US" sz="1100" smtClean="0">
                <a:latin typeface="Montserrat" pitchFamily="2" charset="0"/>
              </a:rPr>
              <a:t>. </a:t>
            </a:r>
            <a:r>
              <a:rPr lang="en-US" sz="1100" b="1">
                <a:latin typeface="Montserrat" pitchFamily="2" charset="0"/>
              </a:rPr>
              <a:t>Phase </a:t>
            </a:r>
            <a:r>
              <a:rPr lang="en-US" sz="1100" b="1" smtClean="0">
                <a:latin typeface="Montserrat" pitchFamily="2" charset="0"/>
              </a:rPr>
              <a:t>C</a:t>
            </a:r>
            <a:r>
              <a:rPr lang="en-US" sz="1100" smtClean="0">
                <a:latin typeface="Montserrat" pitchFamily="2" charset="0"/>
              </a:rPr>
              <a:t>, </a:t>
            </a:r>
            <a:r>
              <a:rPr lang="en-US" sz="1100">
                <a:latin typeface="Montserrat" pitchFamily="2" charset="0"/>
              </a:rPr>
              <a:t>khi có một bẫy tăng giá ở </a:t>
            </a:r>
            <a:r>
              <a:rPr lang="en-US" sz="1100" b="1">
                <a:latin typeface="Montserrat" pitchFamily="2" charset="0"/>
              </a:rPr>
              <a:t>UTAD</a:t>
            </a:r>
            <a:r>
              <a:rPr lang="en-US" sz="1100">
                <a:latin typeface="Montserrat" pitchFamily="2" charset="0"/>
              </a:rPr>
              <a:t> chẳng hạn , nơi mà tay mạnh bán lượng hàng nhiều nhất trong vùng bởi vì đây là vùng giá tốt hơn , nhiều người mua hơn tạo ra sự thanh khoản lớn, dọc đâu đó ở giữa </a:t>
            </a:r>
            <a:r>
              <a:rPr lang="en-US" sz="1100" smtClean="0">
                <a:latin typeface="Montserrat" pitchFamily="2" charset="0"/>
              </a:rPr>
              <a:t>TR có </a:t>
            </a:r>
            <a:r>
              <a:rPr lang="en-US" sz="1100">
                <a:latin typeface="Montserrat" pitchFamily="2" charset="0"/>
              </a:rPr>
              <a:t>thể nơi bán lần cuối của tay mạnh và chính thức họ không còn hàng và thoát khỏi thị trường . Điều này làm hành vi giá cam kết suy yếu xuống vùng hỗ trợ thì nguồn cung tiếp tục gia tăng ở Phase D quyết định rũ bõ người mua cố chấp  , bán mạnh đi vào phân phối .</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0"/>
            <a:ext cx="65532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3095014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8" y="0"/>
            <a:ext cx="9164097" cy="5143500"/>
          </a:xfrm>
          <a:prstGeom prst="rect">
            <a:avLst/>
          </a:prstGeom>
          <a:noFill/>
          <a:extLst>
            <a:ext uri="{909E8E84-426E-40DD-AFC4-6F175D3DCCD1}">
              <a14:hiddenFill xmlns:a14="http://schemas.microsoft.com/office/drawing/2010/main">
                <a:solidFill>
                  <a:srgbClr val="FFFFFF"/>
                </a:solidFill>
              </a14:hiddenFill>
            </a:ext>
          </a:extLst>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5309256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514350"/>
            <a:ext cx="2514600" cy="4339650"/>
          </a:xfrm>
          <a:prstGeom prst="rect">
            <a:avLst/>
          </a:prstGeom>
        </p:spPr>
        <p:txBody>
          <a:bodyPr wrap="square">
            <a:spAutoFit/>
          </a:bodyPr>
          <a:lstStyle/>
          <a:p>
            <a:r>
              <a:rPr lang="en-US" sz="1200" b="1">
                <a:latin typeface="Montserrat" pitchFamily="2" charset="0"/>
              </a:rPr>
              <a:t>Dấu hiệu khối lượng #2 : </a:t>
            </a:r>
            <a:r>
              <a:rPr lang="en-US" sz="1200">
                <a:latin typeface="Montserrat" pitchFamily="2" charset="0"/>
              </a:rPr>
              <a:t>Khối lượng ở Phase A giảm dần đến Phase B sau đó tăng mạnh ở Phase D, lý giải được điều này có vẻ như tay mạnh họ sẽ không hoạt động ở phase B để cho công chúng họ tự hung hăng, phấn khích mua vào   hành động này được mô tả ở Phase A và đầu Phase B là một tái tích lũy tiềm năng khi có những hành vi giá phá vỡ cam kết một phần trên thành kháng cự nhưng sau đó xuất hiện một bẫy tăng giá </a:t>
            </a:r>
            <a:r>
              <a:rPr lang="en-US" sz="1200" smtClean="0">
                <a:latin typeface="Montserrat" pitchFamily="2" charset="0"/>
              </a:rPr>
              <a:t>UTAD </a:t>
            </a:r>
            <a:r>
              <a:rPr lang="en-US" sz="1200">
                <a:latin typeface="Montserrat" pitchFamily="2" charset="0"/>
              </a:rPr>
              <a:t>thể hiện phẩm chất phân phối ở Phase C, tiếp tục thể hiện áp đảo người bán qua phase D , tăng dấu hiệu nguồn cung rũ bỏ công chúng còn mặt kẹt hàng ở trong phạm vi giao dịch này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0"/>
            <a:ext cx="66294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2714539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radingView Chart"/>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p:spPr>
      </p:pic>
      <p:sp>
        <p:nvSpPr>
          <p:cNvPr id="3" name="TextBox 2"/>
          <p:cNvSpPr txBox="1"/>
          <p:nvPr/>
        </p:nvSpPr>
        <p:spPr>
          <a:xfrm>
            <a:off x="4350625" y="590550"/>
            <a:ext cx="442750" cy="215444"/>
          </a:xfrm>
          <a:prstGeom prst="rect">
            <a:avLst/>
          </a:prstGeom>
          <a:solidFill>
            <a:schemeClr val="bg1"/>
          </a:solidFill>
        </p:spPr>
        <p:txBody>
          <a:bodyPr wrap="none" rtlCol="0">
            <a:spAutoFit/>
          </a:bodyPr>
          <a:lstStyle/>
          <a:p>
            <a:r>
              <a:rPr lang="en-US" sz="800" smtClean="0">
                <a:latin typeface="Tahoma" pitchFamily="34" charset="0"/>
                <a:ea typeface="Tahoma" pitchFamily="34" charset="0"/>
                <a:cs typeface="Tahoma" pitchFamily="34" charset="0"/>
              </a:rPr>
              <a:t>ST[B]</a:t>
            </a:r>
            <a:endParaRPr lang="en-US" sz="800">
              <a:latin typeface="Tahoma" pitchFamily="34" charset="0"/>
              <a:ea typeface="Tahoma" pitchFamily="34" charset="0"/>
              <a:cs typeface="Tahoma" pitchFamily="34" charset="0"/>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571751"/>
            <a:ext cx="1929699"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1539014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p:cNvCxnSpPr/>
          <p:nvPr/>
        </p:nvCxnSpPr>
        <p:spPr>
          <a:xfrm>
            <a:off x="1066800" y="4019550"/>
            <a:ext cx="3505200" cy="3048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4572000" y="4019550"/>
            <a:ext cx="2743200" cy="3048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800350"/>
            <a:ext cx="3048000" cy="108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6695844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73521" y="2637981"/>
            <a:ext cx="1348446" cy="338554"/>
          </a:xfrm>
          <a:prstGeom prst="rect">
            <a:avLst/>
          </a:prstGeom>
          <a:noFill/>
        </p:spPr>
        <p:txBody>
          <a:bodyPr wrap="none" rtlCol="0">
            <a:spAutoFit/>
          </a:bodyPr>
          <a:lstStyle/>
          <a:p>
            <a:r>
              <a:rPr lang="en-US" sz="1600" b="1" smtClean="0">
                <a:latin typeface="Montserrat" pitchFamily="2" charset="0"/>
              </a:rPr>
              <a:t>Ít phổ biến</a:t>
            </a:r>
            <a:endParaRPr lang="en-US" sz="1600" b="1">
              <a:latin typeface="Montserrat" pitchFamily="2" charset="0"/>
            </a:endParaRP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3" y="-17873"/>
            <a:ext cx="4404527" cy="5143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
            <a:ext cx="4724400" cy="5143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41059103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radingView Chart"/>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495550"/>
            <a:ext cx="1752600" cy="1289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38912709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600200" y="177780"/>
            <a:ext cx="6745398" cy="338554"/>
          </a:xfrm>
          <a:prstGeom prst="rect">
            <a:avLst/>
          </a:prstGeom>
        </p:spPr>
        <p:txBody>
          <a:bodyPr wrap="square">
            <a:spAutoFit/>
          </a:bodyPr>
          <a:lstStyle/>
          <a:p>
            <a:r>
              <a:rPr lang="en-US" sz="1600" b="1">
                <a:solidFill>
                  <a:srgbClr val="002060"/>
                </a:solidFill>
                <a:latin typeface="Montserrat" pitchFamily="2" charset="0"/>
              </a:rPr>
              <a:t>Giảm trong khung thời gian/ Cấu trúc thay đổi từ lớn tới nhỏ</a:t>
            </a:r>
            <a:endParaRPr lang="en-US" sz="1600">
              <a:solidFill>
                <a:srgbClr val="002060"/>
              </a:solidFill>
              <a:latin typeface="Montserrat" pitchFamily="2" charset="0"/>
            </a:endParaRPr>
          </a:p>
        </p:txBody>
      </p:sp>
      <p:pic>
        <p:nvPicPr>
          <p:cNvPr id="4"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695" y="798352"/>
            <a:ext cx="5294407" cy="3546796"/>
          </a:xfrm>
          <a:prstGeom prst="rect">
            <a:avLst/>
          </a:prstGeom>
        </p:spPr>
      </p:pic>
    </p:spTree>
    <p:extLst>
      <p:ext uri="{BB962C8B-B14F-4D97-AF65-F5344CB8AC3E}">
        <p14:creationId xmlns:p14="http://schemas.microsoft.com/office/powerpoint/2010/main" val="5290773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102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TradingView Ch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0"/>
            <a:ext cx="3733800"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438400" y="133350"/>
            <a:ext cx="2568332" cy="276999"/>
          </a:xfrm>
          <a:prstGeom prst="rect">
            <a:avLst/>
          </a:prstGeom>
          <a:noFill/>
        </p:spPr>
        <p:txBody>
          <a:bodyPr wrap="none" rtlCol="0">
            <a:spAutoFit/>
          </a:bodyPr>
          <a:lstStyle/>
          <a:p>
            <a:r>
              <a:rPr lang="en-US" sz="1200" b="1" smtClean="0">
                <a:latin typeface="Montserrat" pitchFamily="2" charset="0"/>
              </a:rPr>
              <a:t>Local redistribution as LPSY ?</a:t>
            </a:r>
            <a:endParaRPr lang="en-US" sz="1200" b="1">
              <a:latin typeface="Montserrat" pitchFamily="2" charset="0"/>
            </a:endParaRPr>
          </a:p>
        </p:txBody>
      </p:sp>
      <p:cxnSp>
        <p:nvCxnSpPr>
          <p:cNvPr id="3" name="Straight Arrow Connector 2"/>
          <p:cNvCxnSpPr/>
          <p:nvPr/>
        </p:nvCxnSpPr>
        <p:spPr>
          <a:xfrm>
            <a:off x="3505200" y="666750"/>
            <a:ext cx="2438400" cy="5334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pic>
        <p:nvPicPr>
          <p:cNvPr id="6"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7466220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2" y="0"/>
            <a:ext cx="5090327" cy="51435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TradingView Ch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0326" y="0"/>
            <a:ext cx="4053674"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3352800" y="438150"/>
            <a:ext cx="2895600" cy="6858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 name="TextBox 5"/>
          <p:cNvSpPr txBox="1"/>
          <p:nvPr/>
        </p:nvSpPr>
        <p:spPr>
          <a:xfrm>
            <a:off x="4513662" y="1428750"/>
            <a:ext cx="2568332" cy="276999"/>
          </a:xfrm>
          <a:prstGeom prst="rect">
            <a:avLst/>
          </a:prstGeom>
          <a:noFill/>
        </p:spPr>
        <p:txBody>
          <a:bodyPr wrap="none" rtlCol="0">
            <a:spAutoFit/>
          </a:bodyPr>
          <a:lstStyle/>
          <a:p>
            <a:r>
              <a:rPr lang="en-US" sz="1200" b="1" smtClean="0">
                <a:latin typeface="Montserrat" pitchFamily="2" charset="0"/>
              </a:rPr>
              <a:t>Local redistribution as LPSY ?</a:t>
            </a:r>
            <a:endParaRPr lang="en-US" sz="1200" b="1">
              <a:latin typeface="Montserrat" pitchFamily="2" charset="0"/>
            </a:endParaRPr>
          </a:p>
        </p:txBody>
      </p:sp>
      <p:pic>
        <p:nvPicPr>
          <p:cNvPr id="7"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3130831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8422" y="0"/>
            <a:ext cx="9093708" cy="5143500"/>
            <a:chOff x="0" y="0"/>
            <a:chExt cx="12192000" cy="685800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p:cNvSpPr/>
            <p:nvPr/>
          </p:nvSpPr>
          <p:spPr>
            <a:xfrm>
              <a:off x="1925930" y="6099796"/>
              <a:ext cx="2828722" cy="403787"/>
            </a:xfrm>
            <a:prstGeom prst="rect">
              <a:avLst/>
            </a:prstGeom>
          </p:spPr>
          <p:txBody>
            <a:bodyPr wrap="none">
              <a:spAutoFit/>
            </a:bodyPr>
            <a:lstStyle/>
            <a:p>
              <a:pPr algn="ctr">
                <a:lnSpc>
                  <a:spcPct val="114000"/>
                </a:lnSpc>
              </a:pPr>
              <a:r>
                <a:rPr lang="en-US" sz="1200" b="1" dirty="0">
                  <a:latin typeface="UTM Rockwell" panose="02040603050506020204" pitchFamily="18" charset="0"/>
                  <a:cs typeface="Times New Roman" panose="02020603050405020304" pitchFamily="18" charset="0"/>
                </a:rPr>
                <a:t>Source : Rubén Villahermosa</a:t>
              </a:r>
            </a:p>
          </p:txBody>
        </p:sp>
      </p:grpSp>
      <p:cxnSp>
        <p:nvCxnSpPr>
          <p:cNvPr id="9" name="Straight Connector 8"/>
          <p:cNvCxnSpPr/>
          <p:nvPr/>
        </p:nvCxnSpPr>
        <p:spPr>
          <a:xfrm>
            <a:off x="3230351" y="1288013"/>
            <a:ext cx="1776158" cy="435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4295277" y="1296847"/>
            <a:ext cx="34725" cy="218080"/>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4047264" y="1083328"/>
            <a:ext cx="141689" cy="597486"/>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707248" y="1766033"/>
            <a:ext cx="98711" cy="350815"/>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638354" y="1772383"/>
            <a:ext cx="78954" cy="141632"/>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350251" y="1302661"/>
            <a:ext cx="283823" cy="1197303"/>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251200" y="1296847"/>
            <a:ext cx="193984" cy="1061633"/>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388618" y="2384826"/>
            <a:ext cx="1516391" cy="4199"/>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445184" y="1627897"/>
            <a:ext cx="119469" cy="759380"/>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947551" y="1494536"/>
            <a:ext cx="159724" cy="514565"/>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6598437" y="1883634"/>
            <a:ext cx="208841" cy="302405"/>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4644071" y="2152323"/>
            <a:ext cx="92910" cy="359060"/>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831539" y="2066047"/>
            <a:ext cx="73471" cy="196851"/>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756973" y="1766033"/>
            <a:ext cx="175013" cy="235204"/>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114596" y="1493140"/>
            <a:ext cx="265426" cy="508097"/>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188314" y="1060045"/>
            <a:ext cx="100256" cy="434491"/>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555814" y="1624403"/>
            <a:ext cx="83354" cy="283260"/>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959376" y="1552844"/>
            <a:ext cx="87888" cy="151253"/>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727856" y="2139795"/>
            <a:ext cx="103848" cy="123103"/>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460144" y="2305092"/>
            <a:ext cx="152815" cy="194872"/>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5284962" y="2331852"/>
            <a:ext cx="175183" cy="635149"/>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6387345" y="1772383"/>
            <a:ext cx="20649" cy="256013"/>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905948" y="2066047"/>
            <a:ext cx="379013" cy="889001"/>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5609428" y="1772383"/>
            <a:ext cx="175694" cy="748956"/>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1826661" y="2897898"/>
            <a:ext cx="456050" cy="1406951"/>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2490408" y="2224798"/>
            <a:ext cx="242336" cy="919337"/>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931054" y="1309011"/>
            <a:ext cx="320146" cy="1197303"/>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3826229" y="1519947"/>
            <a:ext cx="121418" cy="596901"/>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flipV="1">
            <a:off x="2737071" y="2210710"/>
            <a:ext cx="200677" cy="299837"/>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flipV="1">
            <a:off x="2285405" y="2877944"/>
            <a:ext cx="206033" cy="278615"/>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6415317" y="1764565"/>
            <a:ext cx="183120" cy="399908"/>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3410184" y="2337111"/>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43" name="Oval 42"/>
          <p:cNvSpPr/>
          <p:nvPr/>
        </p:nvSpPr>
        <p:spPr>
          <a:xfrm>
            <a:off x="2701002" y="2186039"/>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48" name="TextBox 47"/>
          <p:cNvSpPr txBox="1"/>
          <p:nvPr/>
        </p:nvSpPr>
        <p:spPr>
          <a:xfrm>
            <a:off x="3296505" y="2397163"/>
            <a:ext cx="321883"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AR</a:t>
            </a:r>
          </a:p>
        </p:txBody>
      </p:sp>
      <p:sp>
        <p:nvSpPr>
          <p:cNvPr id="50" name="Oval 49"/>
          <p:cNvSpPr/>
          <p:nvPr/>
        </p:nvSpPr>
        <p:spPr>
          <a:xfrm>
            <a:off x="1759390" y="4303833"/>
            <a:ext cx="121841" cy="12299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51" name="Oval 50"/>
          <p:cNvSpPr/>
          <p:nvPr/>
        </p:nvSpPr>
        <p:spPr>
          <a:xfrm>
            <a:off x="7608371" y="1641575"/>
            <a:ext cx="121841" cy="12299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cxnSp>
        <p:nvCxnSpPr>
          <p:cNvPr id="82" name="Straight Connector 81"/>
          <p:cNvCxnSpPr/>
          <p:nvPr/>
        </p:nvCxnSpPr>
        <p:spPr>
          <a:xfrm flipH="1" flipV="1">
            <a:off x="6801875" y="1883634"/>
            <a:ext cx="326787" cy="616330"/>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7457227" y="1747187"/>
            <a:ext cx="185963" cy="638805"/>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flipV="1">
            <a:off x="7239689" y="2164472"/>
            <a:ext cx="217538" cy="194007"/>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7117251" y="2164472"/>
            <a:ext cx="132005" cy="331859"/>
          </a:xfrm>
          <a:prstGeom prst="line">
            <a:avLst/>
          </a:prstGeom>
          <a:ln w="38100">
            <a:solidFill>
              <a:schemeClr val="tx1"/>
            </a:solidFill>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V="1">
            <a:off x="5082046" y="2955048"/>
            <a:ext cx="3166604" cy="1338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V="1">
            <a:off x="4132344" y="1034131"/>
            <a:ext cx="4116307" cy="1178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98" name="Oval 97"/>
          <p:cNvSpPr/>
          <p:nvPr/>
        </p:nvSpPr>
        <p:spPr>
          <a:xfrm>
            <a:off x="3516617" y="1577430"/>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99" name="Oval 98"/>
          <p:cNvSpPr/>
          <p:nvPr/>
        </p:nvSpPr>
        <p:spPr>
          <a:xfrm>
            <a:off x="3204952" y="1240479"/>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100" name="Oval 99"/>
          <p:cNvSpPr/>
          <p:nvPr/>
        </p:nvSpPr>
        <p:spPr>
          <a:xfrm>
            <a:off x="4297461" y="1226249"/>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101" name="Oval 100"/>
          <p:cNvSpPr/>
          <p:nvPr/>
        </p:nvSpPr>
        <p:spPr>
          <a:xfrm>
            <a:off x="4152971" y="995832"/>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102" name="Oval 101"/>
          <p:cNvSpPr/>
          <p:nvPr/>
        </p:nvSpPr>
        <p:spPr>
          <a:xfrm>
            <a:off x="4602986" y="2447379"/>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103" name="Oval 102"/>
          <p:cNvSpPr/>
          <p:nvPr/>
        </p:nvSpPr>
        <p:spPr>
          <a:xfrm>
            <a:off x="4872751" y="2015880"/>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104" name="Oval 103"/>
          <p:cNvSpPr/>
          <p:nvPr/>
        </p:nvSpPr>
        <p:spPr>
          <a:xfrm>
            <a:off x="5244895" y="2915960"/>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105" name="Oval 104"/>
          <p:cNvSpPr/>
          <p:nvPr/>
        </p:nvSpPr>
        <p:spPr>
          <a:xfrm>
            <a:off x="6068041" y="1443533"/>
            <a:ext cx="85790" cy="102082"/>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endParaRPr lang="en-US"/>
          </a:p>
        </p:txBody>
      </p:sp>
      <p:sp>
        <p:nvSpPr>
          <p:cNvPr id="106" name="TextBox 105"/>
          <p:cNvSpPr txBox="1"/>
          <p:nvPr/>
        </p:nvSpPr>
        <p:spPr>
          <a:xfrm>
            <a:off x="3396979" y="1402745"/>
            <a:ext cx="309059"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ST</a:t>
            </a:r>
          </a:p>
        </p:txBody>
      </p:sp>
      <p:sp>
        <p:nvSpPr>
          <p:cNvPr id="107" name="TextBox 106"/>
          <p:cNvSpPr txBox="1"/>
          <p:nvPr/>
        </p:nvSpPr>
        <p:spPr>
          <a:xfrm>
            <a:off x="2525875" y="2010087"/>
            <a:ext cx="418064"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PSY</a:t>
            </a:r>
          </a:p>
        </p:txBody>
      </p:sp>
      <p:sp>
        <p:nvSpPr>
          <p:cNvPr id="108" name="TextBox 107"/>
          <p:cNvSpPr txBox="1"/>
          <p:nvPr/>
        </p:nvSpPr>
        <p:spPr>
          <a:xfrm>
            <a:off x="4316114" y="1063521"/>
            <a:ext cx="309059"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ST</a:t>
            </a:r>
          </a:p>
        </p:txBody>
      </p:sp>
      <p:sp>
        <p:nvSpPr>
          <p:cNvPr id="109" name="TextBox 108"/>
          <p:cNvSpPr txBox="1"/>
          <p:nvPr/>
        </p:nvSpPr>
        <p:spPr>
          <a:xfrm>
            <a:off x="3098896" y="1056006"/>
            <a:ext cx="321883"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BC</a:t>
            </a:r>
          </a:p>
        </p:txBody>
      </p:sp>
      <p:sp>
        <p:nvSpPr>
          <p:cNvPr id="110" name="TextBox 109"/>
          <p:cNvSpPr txBox="1"/>
          <p:nvPr/>
        </p:nvSpPr>
        <p:spPr>
          <a:xfrm>
            <a:off x="3878324" y="813780"/>
            <a:ext cx="778739" cy="221215"/>
          </a:xfrm>
          <a:prstGeom prst="rect">
            <a:avLst/>
          </a:prstGeom>
          <a:noFill/>
        </p:spPr>
        <p:txBody>
          <a:bodyPr wrap="none" lIns="51435" tIns="25718" rIns="51435" bIns="25718" rtlCol="0">
            <a:spAutoFit/>
          </a:bodyPr>
          <a:lstStyle/>
          <a:p>
            <a:pPr algn="ctr"/>
            <a:r>
              <a:rPr lang="en-US" sz="1100" b="1" dirty="0" err="1">
                <a:latin typeface="Arial Black" panose="020B0A04020102020204" pitchFamily="34" charset="0"/>
              </a:rPr>
              <a:t>Upthrust</a:t>
            </a:r>
            <a:endParaRPr lang="en-US" sz="1100" b="1" dirty="0">
              <a:latin typeface="Arial Black" panose="020B0A04020102020204" pitchFamily="34" charset="0"/>
            </a:endParaRPr>
          </a:p>
        </p:txBody>
      </p:sp>
      <p:sp>
        <p:nvSpPr>
          <p:cNvPr id="111" name="TextBox 110"/>
          <p:cNvSpPr txBox="1"/>
          <p:nvPr/>
        </p:nvSpPr>
        <p:spPr>
          <a:xfrm>
            <a:off x="4682099" y="1814696"/>
            <a:ext cx="512641"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LPSY</a:t>
            </a:r>
          </a:p>
        </p:txBody>
      </p:sp>
      <p:sp>
        <p:nvSpPr>
          <p:cNvPr id="112" name="TextBox 111"/>
          <p:cNvSpPr txBox="1"/>
          <p:nvPr/>
        </p:nvSpPr>
        <p:spPr>
          <a:xfrm>
            <a:off x="4413293" y="2518947"/>
            <a:ext cx="464551"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SOW</a:t>
            </a:r>
          </a:p>
        </p:txBody>
      </p:sp>
      <p:sp>
        <p:nvSpPr>
          <p:cNvPr id="113" name="TextBox 112"/>
          <p:cNvSpPr txBox="1"/>
          <p:nvPr/>
        </p:nvSpPr>
        <p:spPr>
          <a:xfrm>
            <a:off x="3965589" y="552161"/>
            <a:ext cx="522259" cy="375103"/>
          </a:xfrm>
          <a:prstGeom prst="rect">
            <a:avLst/>
          </a:prstGeom>
          <a:noFill/>
        </p:spPr>
        <p:txBody>
          <a:bodyPr wrap="none" lIns="51435" tIns="25718" rIns="51435" bIns="25718" rtlCol="0">
            <a:spAutoFit/>
          </a:bodyPr>
          <a:lstStyle/>
          <a:p>
            <a:pPr algn="ctr"/>
            <a:r>
              <a:rPr lang="en-US" sz="2100" b="1" dirty="0">
                <a:solidFill>
                  <a:srgbClr val="C00000"/>
                </a:solidFill>
                <a:latin typeface="Arial Black" panose="020B0A04020102020204" pitchFamily="34" charset="0"/>
              </a:rPr>
              <a:t>BC</a:t>
            </a:r>
          </a:p>
        </p:txBody>
      </p:sp>
      <p:sp>
        <p:nvSpPr>
          <p:cNvPr id="114" name="TextBox 113"/>
          <p:cNvSpPr txBox="1"/>
          <p:nvPr/>
        </p:nvSpPr>
        <p:spPr>
          <a:xfrm>
            <a:off x="5993140" y="1095320"/>
            <a:ext cx="493404" cy="375103"/>
          </a:xfrm>
          <a:prstGeom prst="rect">
            <a:avLst/>
          </a:prstGeom>
          <a:noFill/>
        </p:spPr>
        <p:txBody>
          <a:bodyPr wrap="none" lIns="51435" tIns="25718" rIns="51435" bIns="25718" rtlCol="0">
            <a:spAutoFit/>
          </a:bodyPr>
          <a:lstStyle/>
          <a:p>
            <a:pPr algn="ctr"/>
            <a:r>
              <a:rPr lang="en-US" sz="2100" b="1" dirty="0">
                <a:solidFill>
                  <a:srgbClr val="C00000"/>
                </a:solidFill>
                <a:latin typeface="Arial Black" panose="020B0A04020102020204" pitchFamily="34" charset="0"/>
              </a:rPr>
              <a:t>ST</a:t>
            </a:r>
          </a:p>
        </p:txBody>
      </p:sp>
      <p:sp>
        <p:nvSpPr>
          <p:cNvPr id="115" name="TextBox 114"/>
          <p:cNvSpPr txBox="1"/>
          <p:nvPr/>
        </p:nvSpPr>
        <p:spPr>
          <a:xfrm>
            <a:off x="5043256" y="3156559"/>
            <a:ext cx="522258" cy="375103"/>
          </a:xfrm>
          <a:prstGeom prst="rect">
            <a:avLst/>
          </a:prstGeom>
          <a:noFill/>
        </p:spPr>
        <p:txBody>
          <a:bodyPr wrap="none" lIns="51435" tIns="25718" rIns="51435" bIns="25718" rtlCol="0">
            <a:spAutoFit/>
          </a:bodyPr>
          <a:lstStyle/>
          <a:p>
            <a:pPr algn="ctr"/>
            <a:r>
              <a:rPr lang="en-US" sz="2100" b="1" dirty="0">
                <a:solidFill>
                  <a:srgbClr val="C00000"/>
                </a:solidFill>
                <a:latin typeface="Arial Black" panose="020B0A04020102020204" pitchFamily="34" charset="0"/>
              </a:rPr>
              <a:t>AR</a:t>
            </a:r>
          </a:p>
        </p:txBody>
      </p:sp>
      <p:sp>
        <p:nvSpPr>
          <p:cNvPr id="116" name="TextBox 115"/>
          <p:cNvSpPr txBox="1"/>
          <p:nvPr/>
        </p:nvSpPr>
        <p:spPr>
          <a:xfrm>
            <a:off x="5072110" y="3007303"/>
            <a:ext cx="464551" cy="221215"/>
          </a:xfrm>
          <a:prstGeom prst="rect">
            <a:avLst/>
          </a:prstGeom>
          <a:noFill/>
        </p:spPr>
        <p:txBody>
          <a:bodyPr wrap="none" lIns="51435" tIns="25718" rIns="51435" bIns="25718" rtlCol="0">
            <a:spAutoFit/>
          </a:bodyPr>
          <a:lstStyle/>
          <a:p>
            <a:pPr algn="ctr"/>
            <a:r>
              <a:rPr lang="en-US" sz="1100" b="1" dirty="0">
                <a:latin typeface="Arial Black" panose="020B0A04020102020204" pitchFamily="34" charset="0"/>
              </a:rPr>
              <a:t>SOW</a:t>
            </a:r>
          </a:p>
        </p:txBody>
      </p:sp>
      <p:pic>
        <p:nvPicPr>
          <p:cNvPr id="67"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842" y="798352"/>
            <a:ext cx="5294407" cy="3546796"/>
          </a:xfrm>
          <a:prstGeom prst="rect">
            <a:avLst/>
          </a:prstGeom>
        </p:spPr>
      </p:pic>
    </p:spTree>
    <p:extLst>
      <p:ext uri="{BB962C8B-B14F-4D97-AF65-F5344CB8AC3E}">
        <p14:creationId xmlns:p14="http://schemas.microsoft.com/office/powerpoint/2010/main" val="23982809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1816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TradingView Ch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0"/>
            <a:ext cx="39624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1444657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292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radingView Ch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0"/>
            <a:ext cx="41148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26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0714783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438400" y="-16634"/>
            <a:ext cx="5715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002060"/>
                </a:solidFill>
                <a:effectLst/>
                <a:latin typeface="Times New Roman" pitchFamily="18" charset="0"/>
                <a:cs typeface="Times New Roman" pitchFamily="18" charset="0"/>
              </a:rPr>
              <a:t>Sự thất bại về mặt duy</a:t>
            </a:r>
            <a:r>
              <a:rPr kumimoji="0" lang="en-US" sz="2000" b="1" i="0" u="none" strike="noStrike" cap="none" normalizeH="0" smtClean="0">
                <a:ln>
                  <a:noFill/>
                </a:ln>
                <a:solidFill>
                  <a:srgbClr val="002060"/>
                </a:solidFill>
                <a:effectLst/>
                <a:latin typeface="Times New Roman" pitchFamily="18" charset="0"/>
                <a:cs typeface="Times New Roman" pitchFamily="18" charset="0"/>
              </a:rPr>
              <a:t> trì</a:t>
            </a:r>
            <a:r>
              <a:rPr kumimoji="0" lang="en-US" sz="2000" b="1" i="0" u="none" strike="noStrike" cap="none" normalizeH="0" baseline="0" smtClean="0">
                <a:ln>
                  <a:noFill/>
                </a:ln>
                <a:solidFill>
                  <a:srgbClr val="002060"/>
                </a:solidFill>
                <a:effectLst/>
                <a:latin typeface="Times New Roman" pitchFamily="18" charset="0"/>
                <a:cs typeface="Times New Roman" pitchFamily="18" charset="0"/>
              </a:rPr>
              <a:t> cấu trúc</a:t>
            </a:r>
            <a:r>
              <a:rPr kumimoji="0" lang="en-US" sz="2000" b="0" i="0" u="none" strike="noStrike" cap="none" normalizeH="0" baseline="0" smtClean="0">
                <a:ln>
                  <a:noFill/>
                </a:ln>
                <a:solidFill>
                  <a:srgbClr val="002060"/>
                </a:solidFill>
                <a:effectLst/>
                <a:latin typeface="Times New Roman" pitchFamily="18" charset="0"/>
                <a:cs typeface="Times New Roman" pitchFamily="18" charset="0"/>
              </a:rPr>
              <a:t> </a:t>
            </a:r>
          </a:p>
        </p:txBody>
      </p:sp>
      <p:sp>
        <p:nvSpPr>
          <p:cNvPr id="3" name="Rectangle 2"/>
          <p:cNvSpPr/>
          <p:nvPr/>
        </p:nvSpPr>
        <p:spPr>
          <a:xfrm>
            <a:off x="0" y="819239"/>
            <a:ext cx="3200400" cy="3985706"/>
          </a:xfrm>
          <a:prstGeom prst="rect">
            <a:avLst/>
          </a:prstGeom>
        </p:spPr>
        <p:txBody>
          <a:bodyPr wrap="square">
            <a:spAutoFit/>
          </a:bodyPr>
          <a:lstStyle/>
          <a:p>
            <a:r>
              <a:rPr lang="en-US" sz="1100">
                <a:latin typeface="Times New Roman" pitchFamily="18" charset="0"/>
                <a:cs typeface="Times New Roman" pitchFamily="18" charset="0"/>
              </a:rPr>
              <a:t>Đây là một khái niệm rất đơn giản có thể giúp chúng ta khi đánh giá </a:t>
            </a:r>
            <a:r>
              <a:rPr lang="en-US" sz="1100" b="1">
                <a:latin typeface="Times New Roman" pitchFamily="18" charset="0"/>
                <a:cs typeface="Times New Roman" pitchFamily="18" charset="0"/>
              </a:rPr>
              <a:t>diễn biến của các chuyển động</a:t>
            </a:r>
            <a:r>
              <a:rPr lang="en-US" sz="1100">
                <a:latin typeface="Times New Roman" pitchFamily="18" charset="0"/>
                <a:cs typeface="Times New Roman" pitchFamily="18" charset="0"/>
              </a:rPr>
              <a:t>.</a:t>
            </a:r>
          </a:p>
          <a:p>
            <a:r>
              <a:rPr lang="en-US" sz="1100">
                <a:latin typeface="Times New Roman" pitchFamily="18" charset="0"/>
                <a:cs typeface="Times New Roman" pitchFamily="18" charset="0"/>
              </a:rPr>
              <a:t>Lỗi này có thể được tìm thấy trong tất cả các loại cấu trúc; cả trong cấu trúc </a:t>
            </a:r>
            <a:r>
              <a:rPr lang="en-US" sz="1100" b="1">
                <a:latin typeface="Times New Roman" pitchFamily="18" charset="0"/>
                <a:cs typeface="Times New Roman" pitchFamily="18" charset="0"/>
              </a:rPr>
              <a:t>xu hướng tăng </a:t>
            </a:r>
            <a:r>
              <a:rPr lang="en-US" sz="1100">
                <a:latin typeface="Times New Roman" pitchFamily="18" charset="0"/>
                <a:cs typeface="Times New Roman" pitchFamily="18" charset="0"/>
              </a:rPr>
              <a:t>hoặc </a:t>
            </a:r>
            <a:r>
              <a:rPr lang="en-US" sz="1100" b="1">
                <a:latin typeface="Times New Roman" pitchFamily="18" charset="0"/>
                <a:cs typeface="Times New Roman" pitchFamily="18" charset="0"/>
              </a:rPr>
              <a:t>xu hướng giảm </a:t>
            </a:r>
            <a:r>
              <a:rPr lang="en-US" sz="1100">
                <a:latin typeface="Times New Roman" pitchFamily="18" charset="0"/>
                <a:cs typeface="Times New Roman" pitchFamily="18" charset="0"/>
              </a:rPr>
              <a:t>và cấu trúc nằm </a:t>
            </a:r>
            <a:r>
              <a:rPr lang="en-US" sz="1100" smtClean="0">
                <a:latin typeface="Times New Roman" pitchFamily="18" charset="0"/>
                <a:cs typeface="Times New Roman" pitchFamily="18" charset="0"/>
              </a:rPr>
              <a:t>ngang.</a:t>
            </a:r>
            <a:endParaRPr lang="en-US" sz="1100">
              <a:latin typeface="Times New Roman" pitchFamily="18" charset="0"/>
              <a:cs typeface="Times New Roman" pitchFamily="18" charset="0"/>
            </a:endParaRPr>
          </a:p>
          <a:p>
            <a:r>
              <a:rPr lang="en-US" sz="1100">
                <a:latin typeface="Times New Roman" pitchFamily="18" charset="0"/>
                <a:cs typeface="Times New Roman" pitchFamily="18" charset="0"/>
              </a:rPr>
              <a:t>Điều đầu tiên là xác định cấu trúc logic tuân theo bước đi của giá. Điều này sẽ được quyết định bởi những lần phản ứng thành công – khẳng định cấu trúc được hình thành bởi </a:t>
            </a:r>
            <a:r>
              <a:rPr lang="en-US" sz="1100" b="1">
                <a:latin typeface="Times New Roman" pitchFamily="18" charset="0"/>
                <a:cs typeface="Times New Roman" pitchFamily="18" charset="0"/>
              </a:rPr>
              <a:t>hai khu vực cung và cầu</a:t>
            </a:r>
            <a:r>
              <a:rPr lang="en-US" sz="1100">
                <a:latin typeface="Times New Roman" pitchFamily="18" charset="0"/>
                <a:cs typeface="Times New Roman" pitchFamily="18" charset="0"/>
              </a:rPr>
              <a:t>. Đây là chìa khóa ban đầu: để xác định cấu trúc mà giá đã xác thực. Bạn càng có nhiều </a:t>
            </a:r>
            <a:r>
              <a:rPr lang="en-US" sz="1100" b="1">
                <a:latin typeface="Times New Roman" pitchFamily="18" charset="0"/>
                <a:cs typeface="Times New Roman" pitchFamily="18" charset="0"/>
              </a:rPr>
              <a:t>“lần chạm”, </a:t>
            </a:r>
            <a:r>
              <a:rPr lang="en-US" sz="1100">
                <a:latin typeface="Times New Roman" pitchFamily="18" charset="0"/>
                <a:cs typeface="Times New Roman" pitchFamily="18" charset="0"/>
              </a:rPr>
              <a:t>bạn càng tự tin vào cấu trúc đó.</a:t>
            </a:r>
          </a:p>
          <a:p>
            <a:r>
              <a:rPr lang="en-US" sz="1100" smtClean="0">
                <a:latin typeface="Times New Roman" pitchFamily="18" charset="0"/>
                <a:cs typeface="Times New Roman" pitchFamily="18" charset="0"/>
              </a:rPr>
              <a:t>Nếu </a:t>
            </a:r>
            <a:r>
              <a:rPr lang="en-US" sz="1100">
                <a:latin typeface="Times New Roman" pitchFamily="18" charset="0"/>
                <a:cs typeface="Times New Roman" pitchFamily="18" charset="0"/>
              </a:rPr>
              <a:t>không có sự thay đổi về giá ở phía đối diện và thay vào đó tạo ra một </a:t>
            </a:r>
            <a:r>
              <a:rPr lang="en-US" sz="1100" b="1">
                <a:latin typeface="Times New Roman" pitchFamily="18" charset="0"/>
                <a:cs typeface="Times New Roman" pitchFamily="18" charset="0"/>
              </a:rPr>
              <a:t>ngã rẽ trước khi đến khu vực đó</a:t>
            </a:r>
            <a:r>
              <a:rPr lang="en-US" sz="1100">
                <a:latin typeface="Times New Roman" pitchFamily="18" charset="0"/>
                <a:cs typeface="Times New Roman" pitchFamily="18" charset="0"/>
              </a:rPr>
              <a:t>, chúng ta sẽ nói rằng nó đã phát triển một cấu trúc thất bại và tín hiệu này cho biết thêm sự chắc chắn của kịch bản thiên về sự thay đổi giá cuối cùng.</a:t>
            </a:r>
          </a:p>
          <a:p>
            <a:r>
              <a:rPr lang="en-US" sz="1100">
                <a:latin typeface="Times New Roman" pitchFamily="18" charset="0"/>
                <a:cs typeface="Times New Roman" pitchFamily="18" charset="0"/>
              </a:rPr>
              <a:t>Cùng với khái niệm này, người ta hiểu rằng sự hỗ trợ cuối cùng của cung hoặc cầu (Điểm hỗ trợ cuối cùng và Điểm cuối cùng của cung) là những thất bại về cấu trúc trong đó giá bị chặn khi đang nỗ lực tìm kiếm </a:t>
            </a:r>
            <a:r>
              <a:rPr lang="en-US" sz="1100" b="1">
                <a:latin typeface="Times New Roman" pitchFamily="18" charset="0"/>
                <a:cs typeface="Times New Roman" pitchFamily="18" charset="0"/>
              </a:rPr>
              <a:t>một cú sốc</a:t>
            </a:r>
            <a:r>
              <a:rPr lang="en-US" sz="1100">
                <a:latin typeface="Times New Roman" pitchFamily="18" charset="0"/>
                <a:cs typeface="Times New Roman" pitchFamily="18" charset="0"/>
              </a:rPr>
              <a:t>, bắt đầu từ thời điểm đó là hình thành sự phá vỡ cấu trúc.</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83476"/>
            <a:ext cx="5943600" cy="4760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724400" y="3943350"/>
            <a:ext cx="369012" cy="261610"/>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SC</a:t>
            </a:r>
            <a:endParaRPr lang="en-US" sz="1050" b="1">
              <a:latin typeface="Tahoma" pitchFamily="34" charset="0"/>
              <a:ea typeface="Tahoma" pitchFamily="34" charset="0"/>
              <a:cs typeface="Tahoma" pitchFamily="34" charset="0"/>
            </a:endParaRPr>
          </a:p>
        </p:txBody>
      </p:sp>
      <p:sp>
        <p:nvSpPr>
          <p:cNvPr id="6" name="TextBox 5"/>
          <p:cNvSpPr txBox="1"/>
          <p:nvPr/>
        </p:nvSpPr>
        <p:spPr>
          <a:xfrm>
            <a:off x="5060204" y="2433585"/>
            <a:ext cx="375424"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AR</a:t>
            </a:r>
            <a:endParaRPr lang="en-US" sz="1050" b="1">
              <a:latin typeface="Tahoma" pitchFamily="34" charset="0"/>
              <a:ea typeface="Tahoma" pitchFamily="34" charset="0"/>
              <a:cs typeface="Tahoma" pitchFamily="34" charset="0"/>
            </a:endParaRPr>
          </a:p>
        </p:txBody>
      </p:sp>
      <p:sp>
        <p:nvSpPr>
          <p:cNvPr id="7" name="TextBox 6"/>
          <p:cNvSpPr txBox="1"/>
          <p:nvPr/>
        </p:nvSpPr>
        <p:spPr>
          <a:xfrm>
            <a:off x="5307676" y="3933380"/>
            <a:ext cx="566181"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ST[A]</a:t>
            </a:r>
            <a:endParaRPr lang="en-US" sz="1050" b="1">
              <a:latin typeface="Tahoma" pitchFamily="34" charset="0"/>
              <a:ea typeface="Tahoma" pitchFamily="34" charset="0"/>
              <a:cs typeface="Tahoma" pitchFamily="34" charset="0"/>
            </a:endParaRPr>
          </a:p>
        </p:txBody>
      </p:sp>
      <p:sp>
        <p:nvSpPr>
          <p:cNvPr id="8" name="TextBox 7"/>
          <p:cNvSpPr txBox="1"/>
          <p:nvPr/>
        </p:nvSpPr>
        <p:spPr>
          <a:xfrm>
            <a:off x="5491489" y="2419638"/>
            <a:ext cx="566181"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ST[B]</a:t>
            </a:r>
            <a:endParaRPr lang="en-US" sz="1050" b="1">
              <a:latin typeface="Tahoma" pitchFamily="34" charset="0"/>
              <a:ea typeface="Tahoma" pitchFamily="34" charset="0"/>
              <a:cs typeface="Tahoma" pitchFamily="34" charset="0"/>
            </a:endParaRPr>
          </a:p>
        </p:txBody>
      </p:sp>
      <p:sp>
        <p:nvSpPr>
          <p:cNvPr id="9" name="TextBox 8"/>
          <p:cNvSpPr txBox="1"/>
          <p:nvPr/>
        </p:nvSpPr>
        <p:spPr>
          <a:xfrm>
            <a:off x="6324600" y="3333750"/>
            <a:ext cx="646331"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LPS[C]</a:t>
            </a:r>
            <a:endParaRPr lang="en-US" sz="1050" b="1">
              <a:latin typeface="Tahoma" pitchFamily="34" charset="0"/>
              <a:ea typeface="Tahoma" pitchFamily="34" charset="0"/>
              <a:cs typeface="Tahoma" pitchFamily="34" charset="0"/>
            </a:endParaRPr>
          </a:p>
        </p:txBody>
      </p:sp>
      <p:sp>
        <p:nvSpPr>
          <p:cNvPr id="10" name="TextBox 9"/>
          <p:cNvSpPr txBox="1"/>
          <p:nvPr/>
        </p:nvSpPr>
        <p:spPr>
          <a:xfrm>
            <a:off x="6786424" y="570469"/>
            <a:ext cx="537327"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BCLX</a:t>
            </a:r>
            <a:endParaRPr lang="en-US" sz="1050" b="1">
              <a:latin typeface="Tahoma" pitchFamily="34" charset="0"/>
              <a:ea typeface="Tahoma" pitchFamily="34" charset="0"/>
              <a:cs typeface="Tahoma" pitchFamily="34" charset="0"/>
            </a:endParaRPr>
          </a:p>
        </p:txBody>
      </p:sp>
      <p:sp>
        <p:nvSpPr>
          <p:cNvPr id="11" name="TextBox 10"/>
          <p:cNvSpPr txBox="1"/>
          <p:nvPr/>
        </p:nvSpPr>
        <p:spPr>
          <a:xfrm>
            <a:off x="7070224" y="2179669"/>
            <a:ext cx="375424"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AR</a:t>
            </a:r>
            <a:endParaRPr lang="en-US" sz="1050" b="1">
              <a:latin typeface="Tahoma" pitchFamily="34" charset="0"/>
              <a:ea typeface="Tahoma" pitchFamily="34" charset="0"/>
              <a:cs typeface="Tahoma" pitchFamily="34" charset="0"/>
            </a:endParaRPr>
          </a:p>
        </p:txBody>
      </p:sp>
      <p:sp>
        <p:nvSpPr>
          <p:cNvPr id="12" name="TextBox 11"/>
          <p:cNvSpPr txBox="1"/>
          <p:nvPr/>
        </p:nvSpPr>
        <p:spPr>
          <a:xfrm>
            <a:off x="7257936" y="1123950"/>
            <a:ext cx="566181"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ST[A]</a:t>
            </a:r>
            <a:endParaRPr lang="en-US" sz="1050" b="1">
              <a:latin typeface="Tahoma" pitchFamily="34" charset="0"/>
              <a:ea typeface="Tahoma" pitchFamily="34" charset="0"/>
              <a:cs typeface="Tahoma" pitchFamily="34" charset="0"/>
            </a:endParaRPr>
          </a:p>
        </p:txBody>
      </p:sp>
      <p:sp>
        <p:nvSpPr>
          <p:cNvPr id="13" name="TextBox 12"/>
          <p:cNvSpPr txBox="1"/>
          <p:nvPr/>
        </p:nvSpPr>
        <p:spPr>
          <a:xfrm>
            <a:off x="7530978" y="2255655"/>
            <a:ext cx="566181"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ST[B]</a:t>
            </a:r>
            <a:endParaRPr lang="en-US" sz="1050" b="1">
              <a:latin typeface="Tahoma" pitchFamily="34" charset="0"/>
              <a:ea typeface="Tahoma" pitchFamily="34" charset="0"/>
              <a:cs typeface="Tahoma" pitchFamily="34" charset="0"/>
            </a:endParaRPr>
          </a:p>
        </p:txBody>
      </p:sp>
      <p:sp>
        <p:nvSpPr>
          <p:cNvPr id="14" name="TextBox 13"/>
          <p:cNvSpPr txBox="1"/>
          <p:nvPr/>
        </p:nvSpPr>
        <p:spPr>
          <a:xfrm>
            <a:off x="7575358" y="570469"/>
            <a:ext cx="566181"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ST[B]</a:t>
            </a:r>
            <a:endParaRPr lang="en-US" sz="1050" b="1">
              <a:latin typeface="Tahoma" pitchFamily="34" charset="0"/>
              <a:ea typeface="Tahoma" pitchFamily="34" charset="0"/>
              <a:cs typeface="Tahoma" pitchFamily="34" charset="0"/>
            </a:endParaRPr>
          </a:p>
        </p:txBody>
      </p:sp>
      <p:sp>
        <p:nvSpPr>
          <p:cNvPr id="15" name="TextBox 14"/>
          <p:cNvSpPr txBox="1"/>
          <p:nvPr/>
        </p:nvSpPr>
        <p:spPr>
          <a:xfrm>
            <a:off x="8305800" y="1250908"/>
            <a:ext cx="736099" cy="253916"/>
          </a:xfrm>
          <a:prstGeom prst="rect">
            <a:avLst/>
          </a:prstGeom>
          <a:noFill/>
        </p:spPr>
        <p:txBody>
          <a:bodyPr wrap="none" rtlCol="0">
            <a:spAutoFit/>
          </a:bodyPr>
          <a:lstStyle/>
          <a:p>
            <a:r>
              <a:rPr lang="en-US" sz="1050" b="1" smtClean="0">
                <a:latin typeface="Tahoma" pitchFamily="34" charset="0"/>
                <a:ea typeface="Tahoma" pitchFamily="34" charset="0"/>
                <a:cs typeface="Tahoma" pitchFamily="34" charset="0"/>
              </a:rPr>
              <a:t>LPSY[C]</a:t>
            </a:r>
            <a:endParaRPr lang="en-US" sz="1050" b="1">
              <a:latin typeface="Tahoma" pitchFamily="34" charset="0"/>
              <a:ea typeface="Tahoma" pitchFamily="34" charset="0"/>
              <a:cs typeface="Tahoma" pitchFamily="34" charset="0"/>
            </a:endParaRPr>
          </a:p>
        </p:txBody>
      </p:sp>
      <p:sp>
        <p:nvSpPr>
          <p:cNvPr id="16" name="Rectangle 15"/>
          <p:cNvSpPr/>
          <p:nvPr/>
        </p:nvSpPr>
        <p:spPr>
          <a:xfrm>
            <a:off x="4192979" y="4574847"/>
            <a:ext cx="2109873" cy="302840"/>
          </a:xfrm>
          <a:prstGeom prst="rect">
            <a:avLst/>
          </a:prstGeom>
        </p:spPr>
        <p:txBody>
          <a:bodyPr wrap="none">
            <a:spAutoFit/>
          </a:bodyPr>
          <a:lstStyle/>
          <a:p>
            <a:pPr algn="ctr">
              <a:lnSpc>
                <a:spcPct val="114000"/>
              </a:lnSpc>
            </a:pPr>
            <a:r>
              <a:rPr lang="en-US" sz="1200" b="1" dirty="0">
                <a:latin typeface="UTM Rockwell" panose="02040603050506020204" pitchFamily="18" charset="0"/>
                <a:cs typeface="Times New Roman" panose="02020603050405020304" pitchFamily="18" charset="0"/>
              </a:rPr>
              <a:t>Source : Rubén Villahermosa</a:t>
            </a:r>
          </a:p>
        </p:txBody>
      </p:sp>
      <p:pic>
        <p:nvPicPr>
          <p:cNvPr id="17"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2858734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5" y="0"/>
            <a:ext cx="9143999"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09600" y="3486150"/>
            <a:ext cx="335348"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SC</a:t>
            </a:r>
            <a:endParaRPr lang="en-US" sz="900" b="1">
              <a:latin typeface="Tahoma" pitchFamily="34" charset="0"/>
              <a:ea typeface="Tahoma" pitchFamily="34" charset="0"/>
              <a:cs typeface="Tahoma" pitchFamily="34" charset="0"/>
            </a:endParaRPr>
          </a:p>
        </p:txBody>
      </p:sp>
      <p:sp>
        <p:nvSpPr>
          <p:cNvPr id="4" name="TextBox 3"/>
          <p:cNvSpPr txBox="1"/>
          <p:nvPr/>
        </p:nvSpPr>
        <p:spPr>
          <a:xfrm>
            <a:off x="2128086" y="2038349"/>
            <a:ext cx="513282"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ST[B]</a:t>
            </a:r>
            <a:endParaRPr lang="en-US" sz="900" b="1">
              <a:latin typeface="Tahoma" pitchFamily="34" charset="0"/>
              <a:ea typeface="Tahoma" pitchFamily="34" charset="0"/>
              <a:cs typeface="Tahoma" pitchFamily="34" charset="0"/>
            </a:endParaRPr>
          </a:p>
        </p:txBody>
      </p:sp>
      <p:sp>
        <p:nvSpPr>
          <p:cNvPr id="6" name="TextBox 5"/>
          <p:cNvSpPr txBox="1"/>
          <p:nvPr/>
        </p:nvSpPr>
        <p:spPr>
          <a:xfrm>
            <a:off x="1447800" y="2038350"/>
            <a:ext cx="346570"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AR</a:t>
            </a:r>
            <a:endParaRPr lang="en-US" sz="900" b="1">
              <a:latin typeface="Tahoma" pitchFamily="34" charset="0"/>
              <a:ea typeface="Tahoma" pitchFamily="34" charset="0"/>
              <a:cs typeface="Tahoma" pitchFamily="34" charset="0"/>
            </a:endParaRPr>
          </a:p>
        </p:txBody>
      </p:sp>
      <p:sp>
        <p:nvSpPr>
          <p:cNvPr id="7" name="TextBox 6"/>
          <p:cNvSpPr txBox="1"/>
          <p:nvPr/>
        </p:nvSpPr>
        <p:spPr>
          <a:xfrm>
            <a:off x="1540204" y="3486150"/>
            <a:ext cx="513282"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ST[A]</a:t>
            </a:r>
            <a:endParaRPr lang="en-US" sz="900" b="1">
              <a:latin typeface="Tahoma" pitchFamily="34" charset="0"/>
              <a:ea typeface="Tahoma" pitchFamily="34" charset="0"/>
              <a:cs typeface="Tahoma" pitchFamily="34" charset="0"/>
            </a:endParaRPr>
          </a:p>
        </p:txBody>
      </p:sp>
      <p:sp>
        <p:nvSpPr>
          <p:cNvPr id="8" name="TextBox 7"/>
          <p:cNvSpPr txBox="1"/>
          <p:nvPr/>
        </p:nvSpPr>
        <p:spPr>
          <a:xfrm>
            <a:off x="2590800" y="3465425"/>
            <a:ext cx="582211" cy="230832"/>
          </a:xfrm>
          <a:prstGeom prst="rect">
            <a:avLst/>
          </a:prstGeom>
          <a:solidFill>
            <a:schemeClr val="bg1"/>
          </a:solidFill>
        </p:spPr>
        <p:txBody>
          <a:bodyPr wrap="none" rtlCol="0">
            <a:spAutoFit/>
          </a:bodyPr>
          <a:lstStyle/>
          <a:p>
            <a:r>
              <a:rPr lang="en-US" sz="900" b="1" smtClean="0">
                <a:latin typeface="Tahoma" pitchFamily="34" charset="0"/>
                <a:ea typeface="Tahoma" pitchFamily="34" charset="0"/>
                <a:cs typeface="Tahoma" pitchFamily="34" charset="0"/>
              </a:rPr>
              <a:t>LPS[C]</a:t>
            </a:r>
            <a:endParaRPr lang="en-US" sz="900" b="1">
              <a:latin typeface="Tahoma" pitchFamily="34" charset="0"/>
              <a:ea typeface="Tahoma" pitchFamily="34" charset="0"/>
              <a:cs typeface="Tahoma" pitchFamily="34" charset="0"/>
            </a:endParaRPr>
          </a:p>
        </p:txBody>
      </p:sp>
      <p:sp>
        <p:nvSpPr>
          <p:cNvPr id="10" name="TextBox 9"/>
          <p:cNvSpPr txBox="1"/>
          <p:nvPr/>
        </p:nvSpPr>
        <p:spPr>
          <a:xfrm>
            <a:off x="5527288" y="261526"/>
            <a:ext cx="484428"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BCLX</a:t>
            </a:r>
            <a:endParaRPr lang="en-US" sz="900" b="1">
              <a:latin typeface="Tahoma" pitchFamily="34" charset="0"/>
              <a:ea typeface="Tahoma" pitchFamily="34" charset="0"/>
              <a:cs typeface="Tahoma" pitchFamily="34" charset="0"/>
            </a:endParaRPr>
          </a:p>
        </p:txBody>
      </p:sp>
      <p:sp>
        <p:nvSpPr>
          <p:cNvPr id="11" name="TextBox 10"/>
          <p:cNvSpPr txBox="1"/>
          <p:nvPr/>
        </p:nvSpPr>
        <p:spPr>
          <a:xfrm>
            <a:off x="6064615" y="971550"/>
            <a:ext cx="346570"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AR</a:t>
            </a:r>
            <a:endParaRPr lang="en-US" sz="900" b="1">
              <a:latin typeface="Tahoma" pitchFamily="34" charset="0"/>
              <a:ea typeface="Tahoma" pitchFamily="34" charset="0"/>
              <a:cs typeface="Tahoma" pitchFamily="34" charset="0"/>
            </a:endParaRPr>
          </a:p>
        </p:txBody>
      </p:sp>
      <p:sp>
        <p:nvSpPr>
          <p:cNvPr id="12" name="TextBox 11"/>
          <p:cNvSpPr txBox="1"/>
          <p:nvPr/>
        </p:nvSpPr>
        <p:spPr>
          <a:xfrm>
            <a:off x="5999130" y="253623"/>
            <a:ext cx="513282"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ST[A]</a:t>
            </a:r>
            <a:endParaRPr lang="en-US" sz="900" b="1">
              <a:latin typeface="Tahoma" pitchFamily="34" charset="0"/>
              <a:ea typeface="Tahoma" pitchFamily="34" charset="0"/>
              <a:cs typeface="Tahoma" pitchFamily="34" charset="0"/>
            </a:endParaRPr>
          </a:p>
        </p:txBody>
      </p:sp>
      <p:sp>
        <p:nvSpPr>
          <p:cNvPr id="13" name="TextBox 12"/>
          <p:cNvSpPr txBox="1"/>
          <p:nvPr/>
        </p:nvSpPr>
        <p:spPr>
          <a:xfrm>
            <a:off x="7848600" y="249718"/>
            <a:ext cx="659155" cy="230832"/>
          </a:xfrm>
          <a:prstGeom prst="rect">
            <a:avLst/>
          </a:prstGeom>
          <a:solidFill>
            <a:schemeClr val="bg1"/>
          </a:solidFill>
        </p:spPr>
        <p:txBody>
          <a:bodyPr wrap="none" rtlCol="0">
            <a:spAutoFit/>
          </a:bodyPr>
          <a:lstStyle/>
          <a:p>
            <a:r>
              <a:rPr lang="en-US" sz="900" b="1" smtClean="0">
                <a:latin typeface="Tahoma" pitchFamily="34" charset="0"/>
                <a:ea typeface="Tahoma" pitchFamily="34" charset="0"/>
                <a:cs typeface="Tahoma" pitchFamily="34" charset="0"/>
              </a:rPr>
              <a:t>LPSY[C]</a:t>
            </a:r>
            <a:endParaRPr lang="en-US" sz="900" b="1">
              <a:latin typeface="Tahoma" pitchFamily="34" charset="0"/>
              <a:ea typeface="Tahoma" pitchFamily="34" charset="0"/>
              <a:cs typeface="Tahoma" pitchFamily="34" charset="0"/>
            </a:endParaRPr>
          </a:p>
        </p:txBody>
      </p:sp>
      <p:cxnSp>
        <p:nvCxnSpPr>
          <p:cNvPr id="14" name="Straight Connector 13"/>
          <p:cNvCxnSpPr/>
          <p:nvPr/>
        </p:nvCxnSpPr>
        <p:spPr>
          <a:xfrm>
            <a:off x="2057400" y="2038350"/>
            <a:ext cx="0" cy="2057400"/>
          </a:xfrm>
          <a:prstGeom prst="line">
            <a:avLst/>
          </a:prstGeom>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917847" y="3847728"/>
            <a:ext cx="643125"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Phase A</a:t>
            </a:r>
            <a:endParaRPr lang="en-US" sz="900" b="1">
              <a:latin typeface="Tahoma" pitchFamily="34" charset="0"/>
              <a:ea typeface="Tahoma" pitchFamily="34" charset="0"/>
              <a:cs typeface="Tahoma" pitchFamily="34" charset="0"/>
            </a:endParaRPr>
          </a:p>
        </p:txBody>
      </p:sp>
      <p:cxnSp>
        <p:nvCxnSpPr>
          <p:cNvPr id="19" name="Straight Connector 18"/>
          <p:cNvCxnSpPr/>
          <p:nvPr/>
        </p:nvCxnSpPr>
        <p:spPr>
          <a:xfrm>
            <a:off x="6275030" y="50440"/>
            <a:ext cx="0" cy="1454510"/>
          </a:xfrm>
          <a:prstGeom prst="line">
            <a:avLst/>
          </a:prstGeom>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5588204" y="1274118"/>
            <a:ext cx="643125"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Phase A</a:t>
            </a:r>
            <a:endParaRPr lang="en-US" sz="900" b="1">
              <a:latin typeface="Tahoma" pitchFamily="34" charset="0"/>
              <a:ea typeface="Tahoma" pitchFamily="34" charset="0"/>
              <a:cs typeface="Tahoma" pitchFamily="34" charset="0"/>
            </a:endParaRPr>
          </a:p>
        </p:txBody>
      </p:sp>
      <p:sp>
        <p:nvSpPr>
          <p:cNvPr id="22" name="TextBox 21"/>
          <p:cNvSpPr txBox="1"/>
          <p:nvPr/>
        </p:nvSpPr>
        <p:spPr>
          <a:xfrm>
            <a:off x="2053486" y="3865499"/>
            <a:ext cx="643125"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Phase B</a:t>
            </a:r>
            <a:endParaRPr lang="en-US" sz="900" b="1">
              <a:latin typeface="Tahoma" pitchFamily="34" charset="0"/>
              <a:ea typeface="Tahoma" pitchFamily="34" charset="0"/>
              <a:cs typeface="Tahoma" pitchFamily="34" charset="0"/>
            </a:endParaRPr>
          </a:p>
        </p:txBody>
      </p:sp>
      <p:sp>
        <p:nvSpPr>
          <p:cNvPr id="23" name="TextBox 22"/>
          <p:cNvSpPr txBox="1"/>
          <p:nvPr/>
        </p:nvSpPr>
        <p:spPr>
          <a:xfrm>
            <a:off x="6279520" y="1274118"/>
            <a:ext cx="643125"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Phase B</a:t>
            </a:r>
            <a:endParaRPr lang="en-US" sz="900" b="1">
              <a:latin typeface="Tahoma" pitchFamily="34" charset="0"/>
              <a:ea typeface="Tahoma" pitchFamily="34" charset="0"/>
              <a:cs typeface="Tahoma" pitchFamily="34" charset="0"/>
            </a:endParaRPr>
          </a:p>
        </p:txBody>
      </p:sp>
      <p:sp>
        <p:nvSpPr>
          <p:cNvPr id="24" name="TextBox 23"/>
          <p:cNvSpPr txBox="1"/>
          <p:nvPr/>
        </p:nvSpPr>
        <p:spPr>
          <a:xfrm>
            <a:off x="7162800" y="1043286"/>
            <a:ext cx="830677"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Minor SOW</a:t>
            </a:r>
            <a:endParaRPr lang="en-US" sz="900" b="1">
              <a:latin typeface="Tahoma" pitchFamily="34" charset="0"/>
              <a:ea typeface="Tahoma" pitchFamily="34" charset="0"/>
              <a:cs typeface="Tahoma" pitchFamily="34" charset="0"/>
            </a:endParaRPr>
          </a:p>
        </p:txBody>
      </p:sp>
      <p:sp>
        <p:nvSpPr>
          <p:cNvPr id="25" name="TextBox 24"/>
          <p:cNvSpPr txBox="1"/>
          <p:nvPr/>
        </p:nvSpPr>
        <p:spPr>
          <a:xfrm>
            <a:off x="7162800" y="146110"/>
            <a:ext cx="558166"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UT [B]</a:t>
            </a:r>
            <a:endParaRPr lang="en-US" sz="900" b="1">
              <a:latin typeface="Tahoma" pitchFamily="34" charset="0"/>
              <a:ea typeface="Tahoma" pitchFamily="34" charset="0"/>
              <a:cs typeface="Tahoma" pitchFamily="34" charset="0"/>
            </a:endParaRPr>
          </a:p>
        </p:txBody>
      </p:sp>
      <p:pic>
        <p:nvPicPr>
          <p:cNvPr id="20"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576348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14350"/>
            <a:ext cx="2971800" cy="1938992"/>
          </a:xfrm>
          <a:prstGeom prst="rect">
            <a:avLst/>
          </a:prstGeom>
        </p:spPr>
        <p:txBody>
          <a:bodyPr wrap="square">
            <a:spAutoFit/>
          </a:bodyPr>
          <a:lstStyle/>
          <a:p>
            <a:r>
              <a:rPr lang="en-US" sz="1200">
                <a:latin typeface="Times New Roman" pitchFamily="18" charset="0"/>
                <a:cs typeface="Times New Roman" pitchFamily="18" charset="0"/>
              </a:rPr>
              <a:t>Ví dụ về cấu trúc thất bại biểu thị </a:t>
            </a:r>
            <a:r>
              <a:rPr lang="en-US" sz="1200" b="1">
                <a:latin typeface="Times New Roman" pitchFamily="18" charset="0"/>
                <a:cs typeface="Times New Roman" pitchFamily="18" charset="0"/>
              </a:rPr>
              <a:t>điểm yếu </a:t>
            </a:r>
            <a:r>
              <a:rPr lang="en-US" sz="1200">
                <a:latin typeface="Times New Roman" pitchFamily="18" charset="0"/>
                <a:cs typeface="Times New Roman" pitchFamily="18" charset="0"/>
              </a:rPr>
              <a:t>được tìm thấy khi giá, sau khi xác nhận cấu trúc trong một số trường hợp, không thể tiếp tục di chuyển theo logic chuyển động hiện tại </a:t>
            </a:r>
            <a:r>
              <a:rPr lang="en-US" sz="1200" b="1">
                <a:latin typeface="Times New Roman" pitchFamily="18" charset="0"/>
                <a:cs typeface="Times New Roman" pitchFamily="18" charset="0"/>
              </a:rPr>
              <a:t>và không thể đạt đến đỉnh.</a:t>
            </a:r>
          </a:p>
          <a:p>
            <a:r>
              <a:rPr lang="en-US" sz="1200">
                <a:latin typeface="Times New Roman" pitchFamily="18" charset="0"/>
                <a:cs typeface="Times New Roman" pitchFamily="18" charset="0"/>
              </a:rPr>
              <a:t>Rất ít khả năng cho sự tiếp tục chuyển động này đến thời điểm đó cho thấy điểm yếu tiềm ẩn</a:t>
            </a:r>
            <a:r>
              <a:rPr lang="en-US" sz="1200" b="1">
                <a:latin typeface="Times New Roman" pitchFamily="18" charset="0"/>
                <a:cs typeface="Times New Roman" pitchFamily="18" charset="0"/>
              </a:rPr>
              <a:t>. Người mua đã không còn kiểm soát thị trường và người bán ngày càng xuất hiện nhiều hơn.</a:t>
            </a:r>
          </a:p>
        </p:txBody>
      </p:sp>
      <p:sp>
        <p:nvSpPr>
          <p:cNvPr id="5" name="Rectangle 4"/>
          <p:cNvSpPr/>
          <p:nvPr/>
        </p:nvSpPr>
        <p:spPr>
          <a:xfrm>
            <a:off x="-11723" y="2571750"/>
            <a:ext cx="2831123" cy="830997"/>
          </a:xfrm>
          <a:prstGeom prst="rect">
            <a:avLst/>
          </a:prstGeom>
        </p:spPr>
        <p:txBody>
          <a:bodyPr wrap="square">
            <a:spAutoFit/>
          </a:bodyPr>
          <a:lstStyle/>
          <a:p>
            <a:r>
              <a:rPr lang="en-US" sz="1200">
                <a:latin typeface="Times New Roman" pitchFamily="18" charset="0"/>
                <a:cs typeface="Times New Roman" pitchFamily="18" charset="0"/>
              </a:rPr>
              <a:t>Dấu hiệu này không gợi ý sự đảo chiều giá ngay lập tức; nó chỉ là một yếu tố khác cần được tính đến khi để đọc hiểu thị trường.</a:t>
            </a:r>
          </a:p>
          <a:p>
            <a:r>
              <a:rPr lang="en-US" sz="1200" smtClean="0">
                <a:latin typeface="Times New Roman" pitchFamily="18" charset="0"/>
                <a:cs typeface="Times New Roman" pitchFamily="18" charset="0"/>
              </a:rPr>
              <a:t>.</a:t>
            </a:r>
            <a:endParaRPr lang="en-US" sz="1200">
              <a:latin typeface="Times New Roman" pitchFamily="18" charset="0"/>
              <a:cs typeface="Times New Roman" pitchFamily="18" charset="0"/>
            </a:endParaRPr>
          </a:p>
        </p:txBody>
      </p:sp>
      <p:sp>
        <p:nvSpPr>
          <p:cNvPr id="7" name="Rectangle 6"/>
          <p:cNvSpPr>
            <a:spLocks noChangeArrowheads="1"/>
          </p:cNvSpPr>
          <p:nvPr/>
        </p:nvSpPr>
        <p:spPr bwMode="auto">
          <a:xfrm>
            <a:off x="2438400" y="3463"/>
            <a:ext cx="5715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002060"/>
                </a:solidFill>
                <a:effectLst/>
                <a:latin typeface="Times New Roman" pitchFamily="18" charset="0"/>
                <a:cs typeface="Times New Roman" pitchFamily="18" charset="0"/>
              </a:rPr>
              <a:t>Sự thất bại về mặt duy</a:t>
            </a:r>
            <a:r>
              <a:rPr kumimoji="0" lang="en-US" sz="2000" b="1" i="0" u="none" strike="noStrike" cap="none" normalizeH="0" smtClean="0">
                <a:ln>
                  <a:noFill/>
                </a:ln>
                <a:solidFill>
                  <a:srgbClr val="002060"/>
                </a:solidFill>
                <a:effectLst/>
                <a:latin typeface="Times New Roman" pitchFamily="18" charset="0"/>
                <a:cs typeface="Times New Roman" pitchFamily="18" charset="0"/>
              </a:rPr>
              <a:t> trì</a:t>
            </a:r>
            <a:r>
              <a:rPr kumimoji="0" lang="en-US" sz="2000" b="1" i="0" u="none" strike="noStrike" cap="none" normalizeH="0" baseline="0" smtClean="0">
                <a:ln>
                  <a:noFill/>
                </a:ln>
                <a:solidFill>
                  <a:srgbClr val="002060"/>
                </a:solidFill>
                <a:effectLst/>
                <a:latin typeface="Times New Roman" pitchFamily="18" charset="0"/>
                <a:cs typeface="Times New Roman" pitchFamily="18" charset="0"/>
              </a:rPr>
              <a:t> cấu trúc dốc- phân</a:t>
            </a:r>
            <a:r>
              <a:rPr kumimoji="0" lang="en-US" sz="2000" b="1" i="0" u="none" strike="noStrike" cap="none" normalizeH="0" smtClean="0">
                <a:ln>
                  <a:noFill/>
                </a:ln>
                <a:solidFill>
                  <a:srgbClr val="002060"/>
                </a:solidFill>
                <a:effectLst/>
                <a:latin typeface="Times New Roman" pitchFamily="18" charset="0"/>
                <a:cs typeface="Times New Roman" pitchFamily="18" charset="0"/>
              </a:rPr>
              <a:t> phối</a:t>
            </a:r>
            <a:r>
              <a:rPr kumimoji="0" lang="en-US" sz="2000" b="0" i="0" u="none" strike="noStrike" cap="none" normalizeH="0" baseline="0" smtClean="0">
                <a:ln>
                  <a:noFill/>
                </a:ln>
                <a:solidFill>
                  <a:srgbClr val="002060"/>
                </a:solidFill>
                <a:effectLst/>
                <a:latin typeface="Times New Roman" pitchFamily="18" charset="0"/>
                <a:cs typeface="Times New Roman" pitchFamily="18" charset="0"/>
              </a:rPr>
              <a:t> </a:t>
            </a:r>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09644"/>
            <a:ext cx="6172200" cy="4733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7398732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16367"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53331" y="564592"/>
            <a:ext cx="484428"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BCLX</a:t>
            </a:r>
            <a:endParaRPr lang="en-US" sz="900" b="1">
              <a:latin typeface="Tahoma" pitchFamily="34" charset="0"/>
              <a:ea typeface="Tahoma" pitchFamily="34" charset="0"/>
              <a:cs typeface="Tahoma" pitchFamily="34" charset="0"/>
            </a:endParaRPr>
          </a:p>
        </p:txBody>
      </p:sp>
      <p:sp>
        <p:nvSpPr>
          <p:cNvPr id="5" name="TextBox 4"/>
          <p:cNvSpPr txBox="1"/>
          <p:nvPr/>
        </p:nvSpPr>
        <p:spPr>
          <a:xfrm>
            <a:off x="1905000" y="2114550"/>
            <a:ext cx="346570"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AR</a:t>
            </a:r>
            <a:endParaRPr lang="en-US" sz="900" b="1">
              <a:latin typeface="Tahoma" pitchFamily="34" charset="0"/>
              <a:ea typeface="Tahoma" pitchFamily="34" charset="0"/>
              <a:cs typeface="Tahoma" pitchFamily="34" charset="0"/>
            </a:endParaRPr>
          </a:p>
        </p:txBody>
      </p:sp>
      <p:sp>
        <p:nvSpPr>
          <p:cNvPr id="6" name="TextBox 5"/>
          <p:cNvSpPr txBox="1"/>
          <p:nvPr/>
        </p:nvSpPr>
        <p:spPr>
          <a:xfrm>
            <a:off x="1831262" y="915126"/>
            <a:ext cx="513282"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ST[A]</a:t>
            </a:r>
            <a:endParaRPr lang="en-US" sz="900" b="1">
              <a:latin typeface="Tahoma" pitchFamily="34" charset="0"/>
              <a:ea typeface="Tahoma" pitchFamily="34" charset="0"/>
              <a:cs typeface="Tahoma" pitchFamily="34" charset="0"/>
            </a:endParaRPr>
          </a:p>
        </p:txBody>
      </p:sp>
      <p:cxnSp>
        <p:nvCxnSpPr>
          <p:cNvPr id="7" name="Straight Connector 6"/>
          <p:cNvCxnSpPr/>
          <p:nvPr/>
        </p:nvCxnSpPr>
        <p:spPr>
          <a:xfrm>
            <a:off x="2307674" y="514350"/>
            <a:ext cx="0" cy="2133600"/>
          </a:xfrm>
          <a:prstGeom prst="line">
            <a:avLst/>
          </a:prstGeom>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3657600" y="712131"/>
            <a:ext cx="513282"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ST[B]</a:t>
            </a:r>
            <a:endParaRPr lang="en-US" sz="900" b="1">
              <a:latin typeface="Tahoma" pitchFamily="34" charset="0"/>
              <a:ea typeface="Tahoma" pitchFamily="34" charset="0"/>
              <a:cs typeface="Tahoma" pitchFamily="34" charset="0"/>
            </a:endParaRPr>
          </a:p>
        </p:txBody>
      </p:sp>
      <p:sp>
        <p:nvSpPr>
          <p:cNvPr id="11" name="TextBox 10"/>
          <p:cNvSpPr txBox="1"/>
          <p:nvPr/>
        </p:nvSpPr>
        <p:spPr>
          <a:xfrm>
            <a:off x="4052415" y="2222272"/>
            <a:ext cx="1015021"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Minor SOW[B]</a:t>
            </a:r>
            <a:endParaRPr lang="en-US" sz="900" b="1">
              <a:latin typeface="Tahoma" pitchFamily="34" charset="0"/>
              <a:ea typeface="Tahoma" pitchFamily="34" charset="0"/>
              <a:cs typeface="Tahoma" pitchFamily="34" charset="0"/>
            </a:endParaRPr>
          </a:p>
        </p:txBody>
      </p:sp>
      <p:sp>
        <p:nvSpPr>
          <p:cNvPr id="12" name="TextBox 11"/>
          <p:cNvSpPr txBox="1"/>
          <p:nvPr/>
        </p:nvSpPr>
        <p:spPr>
          <a:xfrm>
            <a:off x="5105399" y="1234144"/>
            <a:ext cx="659155"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LPSY[C]</a:t>
            </a:r>
            <a:endParaRPr lang="en-US" sz="900" b="1">
              <a:latin typeface="Tahoma" pitchFamily="34" charset="0"/>
              <a:ea typeface="Tahoma" pitchFamily="34" charset="0"/>
              <a:cs typeface="Tahoma" pitchFamily="34" charset="0"/>
            </a:endParaRPr>
          </a:p>
        </p:txBody>
      </p:sp>
      <p:sp>
        <p:nvSpPr>
          <p:cNvPr id="13" name="TextBox 12"/>
          <p:cNvSpPr txBox="1"/>
          <p:nvPr/>
        </p:nvSpPr>
        <p:spPr>
          <a:xfrm>
            <a:off x="1395545" y="2354640"/>
            <a:ext cx="643125"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Phase A</a:t>
            </a:r>
            <a:endParaRPr lang="en-US" sz="900" b="1">
              <a:latin typeface="Tahoma" pitchFamily="34" charset="0"/>
              <a:ea typeface="Tahoma" pitchFamily="34" charset="0"/>
              <a:cs typeface="Tahoma" pitchFamily="34" charset="0"/>
            </a:endParaRPr>
          </a:p>
        </p:txBody>
      </p:sp>
      <p:sp>
        <p:nvSpPr>
          <p:cNvPr id="14" name="TextBox 13"/>
          <p:cNvSpPr txBox="1"/>
          <p:nvPr/>
        </p:nvSpPr>
        <p:spPr>
          <a:xfrm>
            <a:off x="2531184" y="2372411"/>
            <a:ext cx="643125" cy="230832"/>
          </a:xfrm>
          <a:prstGeom prst="rect">
            <a:avLst/>
          </a:prstGeom>
          <a:noFill/>
        </p:spPr>
        <p:txBody>
          <a:bodyPr wrap="none" rtlCol="0">
            <a:spAutoFit/>
          </a:bodyPr>
          <a:lstStyle/>
          <a:p>
            <a:r>
              <a:rPr lang="en-US" sz="900" b="1" smtClean="0">
                <a:latin typeface="Tahoma" pitchFamily="34" charset="0"/>
                <a:ea typeface="Tahoma" pitchFamily="34" charset="0"/>
                <a:cs typeface="Tahoma" pitchFamily="34" charset="0"/>
              </a:rPr>
              <a:t>Phase B</a:t>
            </a:r>
            <a:endParaRPr lang="en-US" sz="900" b="1">
              <a:latin typeface="Tahoma" pitchFamily="34" charset="0"/>
              <a:ea typeface="Tahoma" pitchFamily="34" charset="0"/>
              <a:cs typeface="Tahoma" pitchFamily="34" charset="0"/>
            </a:endParaRPr>
          </a:p>
        </p:txBody>
      </p:sp>
      <p:pic>
        <p:nvPicPr>
          <p:cNvPr id="15"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2046661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32"/>
            <a:ext cx="9144000" cy="5131568"/>
          </a:xfrm>
          <a:prstGeom prst="rect">
            <a:avLst/>
          </a:prstGeom>
          <a:noFill/>
          <a:extLst>
            <a:ext uri="{909E8E84-426E-40DD-AFC4-6F175D3DCCD1}">
              <a14:hiddenFill xmlns:a14="http://schemas.microsoft.com/office/drawing/2010/main">
                <a:solidFill>
                  <a:srgbClr val="FFFFFF"/>
                </a:solidFill>
              </a14:hiddenFill>
            </a:ext>
          </a:extLst>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5373675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90550"/>
            <a:ext cx="2971800" cy="2462213"/>
          </a:xfrm>
          <a:prstGeom prst="rect">
            <a:avLst/>
          </a:prstGeom>
        </p:spPr>
        <p:txBody>
          <a:bodyPr wrap="square">
            <a:spAutoFit/>
          </a:bodyPr>
          <a:lstStyle/>
          <a:p>
            <a:r>
              <a:rPr lang="en-US" sz="1100" smtClean="0">
                <a:latin typeface="Times New Roman" pitchFamily="18" charset="0"/>
                <a:cs typeface="Times New Roman" pitchFamily="18" charset="0"/>
              </a:rPr>
              <a:t>Tài sản thể hiện sức mạnh cơ bản có được khi giá không thể chạm đến đáy.</a:t>
            </a:r>
          </a:p>
          <a:p>
            <a:r>
              <a:rPr lang="en-US" sz="1100" smtClean="0">
                <a:latin typeface="Times New Roman" pitchFamily="18" charset="0"/>
                <a:cs typeface="Times New Roman" pitchFamily="18" charset="0"/>
              </a:rPr>
              <a:t>Nói cách khác, nếu giá đang lên đến đỉnh và giảm dần xuống đáy mà thị phần của chúng hoàn toàn phù hợp trong giới hạn trên và dưới, chúng ta sẽ khuyến khích thị trường tiếp tục theo cách tương tự và do đó chúng ta sẽ </a:t>
            </a:r>
            <a:r>
              <a:rPr lang="en-US" sz="1100" b="1" smtClean="0">
                <a:latin typeface="Times New Roman" pitchFamily="18" charset="0"/>
                <a:cs typeface="Times New Roman" pitchFamily="18" charset="0"/>
              </a:rPr>
              <a:t>tìm kiếm một thử nghiệm mới ở bên đối diện</a:t>
            </a:r>
            <a:r>
              <a:rPr lang="en-US" sz="1100" smtClean="0">
                <a:latin typeface="Times New Roman" pitchFamily="18" charset="0"/>
                <a:cs typeface="Times New Roman" pitchFamily="18" charset="0"/>
              </a:rPr>
              <a:t>. Nếu trong quá trình phát triển của một chuyển động như vậy, giá quay đầu mà không đạt đến độ thấp đó, chúng ta sẽ nói rằng thị trường đã tạo ra một sự thất bại về cấu trúc và đó là một dấu hiệu của sức mạnh thị trường </a:t>
            </a:r>
            <a:r>
              <a:rPr lang="en-US" sz="1100" b="1" smtClean="0">
                <a:latin typeface="Times New Roman" pitchFamily="18" charset="0"/>
                <a:cs typeface="Times New Roman" pitchFamily="18" charset="0"/>
              </a:rPr>
              <a:t>vì người mua không cho phép giá giảm xuống thấp hơn.</a:t>
            </a:r>
            <a:endParaRPr lang="en-US" sz="1100" b="1">
              <a:latin typeface="Times New Roman" pitchFamily="18" charset="0"/>
              <a:cs typeface="Times New Roman" pitchFamily="18" charset="0"/>
            </a:endParaRPr>
          </a:p>
        </p:txBody>
      </p:sp>
      <p:sp>
        <p:nvSpPr>
          <p:cNvPr id="8" name="Rectangle 7"/>
          <p:cNvSpPr>
            <a:spLocks noChangeArrowheads="1"/>
          </p:cNvSpPr>
          <p:nvPr/>
        </p:nvSpPr>
        <p:spPr bwMode="auto">
          <a:xfrm>
            <a:off x="2209800" y="-6585"/>
            <a:ext cx="5715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002060"/>
                </a:solidFill>
                <a:effectLst/>
                <a:latin typeface="Times New Roman" pitchFamily="18" charset="0"/>
                <a:cs typeface="Times New Roman" pitchFamily="18" charset="0"/>
              </a:rPr>
              <a:t>Sự thất bại về mặt duy</a:t>
            </a:r>
            <a:r>
              <a:rPr kumimoji="0" lang="en-US" sz="2000" b="1" i="0" u="none" strike="noStrike" cap="none" normalizeH="0" smtClean="0">
                <a:ln>
                  <a:noFill/>
                </a:ln>
                <a:solidFill>
                  <a:srgbClr val="002060"/>
                </a:solidFill>
                <a:effectLst/>
                <a:latin typeface="Times New Roman" pitchFamily="18" charset="0"/>
                <a:cs typeface="Times New Roman" pitchFamily="18" charset="0"/>
              </a:rPr>
              <a:t> trì</a:t>
            </a:r>
            <a:r>
              <a:rPr kumimoji="0" lang="en-US" sz="2000" b="1" i="0" u="none" strike="noStrike" cap="none" normalizeH="0" baseline="0" smtClean="0">
                <a:ln>
                  <a:noFill/>
                </a:ln>
                <a:solidFill>
                  <a:srgbClr val="002060"/>
                </a:solidFill>
                <a:effectLst/>
                <a:latin typeface="Times New Roman" pitchFamily="18" charset="0"/>
                <a:cs typeface="Times New Roman" pitchFamily="18" charset="0"/>
              </a:rPr>
              <a:t> cấu trúc dốc- tích</a:t>
            </a:r>
            <a:r>
              <a:rPr kumimoji="0" lang="en-US" sz="2000" b="1" i="0" u="none" strike="noStrike" cap="none" normalizeH="0" smtClean="0">
                <a:ln>
                  <a:noFill/>
                </a:ln>
                <a:solidFill>
                  <a:srgbClr val="002060"/>
                </a:solidFill>
                <a:effectLst/>
                <a:latin typeface="Times New Roman" pitchFamily="18" charset="0"/>
                <a:cs typeface="Times New Roman" pitchFamily="18" charset="0"/>
              </a:rPr>
              <a:t> lũy</a:t>
            </a:r>
            <a:endParaRPr kumimoji="0" lang="en-US" sz="2000" b="0" i="0" u="none" strike="noStrike" cap="none" normalizeH="0" baseline="0" smtClean="0">
              <a:ln>
                <a:noFill/>
              </a:ln>
              <a:solidFill>
                <a:srgbClr val="002060"/>
              </a:solidFill>
              <a:effectLst/>
              <a:latin typeface="Times New Roman" pitchFamily="18" charset="0"/>
              <a:cs typeface="Times New Roman" pitchFamily="18" charset="0"/>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394572"/>
            <a:ext cx="6172199" cy="4748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6478620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4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819400" y="3333750"/>
            <a:ext cx="319318" cy="215444"/>
          </a:xfrm>
          <a:prstGeom prst="rect">
            <a:avLst/>
          </a:prstGeom>
          <a:noFill/>
        </p:spPr>
        <p:txBody>
          <a:bodyPr wrap="none" rtlCol="0">
            <a:spAutoFit/>
          </a:bodyPr>
          <a:lstStyle/>
          <a:p>
            <a:r>
              <a:rPr lang="en-US" sz="800" b="1" smtClean="0">
                <a:latin typeface="Tahoma" pitchFamily="34" charset="0"/>
                <a:ea typeface="Tahoma" pitchFamily="34" charset="0"/>
                <a:cs typeface="Tahoma" pitchFamily="34" charset="0"/>
              </a:rPr>
              <a:t>SC</a:t>
            </a:r>
            <a:endParaRPr lang="en-US" sz="800" b="1">
              <a:latin typeface="Tahoma" pitchFamily="34" charset="0"/>
              <a:ea typeface="Tahoma" pitchFamily="34" charset="0"/>
              <a:cs typeface="Tahoma" pitchFamily="34" charset="0"/>
            </a:endParaRPr>
          </a:p>
        </p:txBody>
      </p:sp>
      <p:sp>
        <p:nvSpPr>
          <p:cNvPr id="4" name="TextBox 3"/>
          <p:cNvSpPr txBox="1"/>
          <p:nvPr/>
        </p:nvSpPr>
        <p:spPr>
          <a:xfrm>
            <a:off x="3285663" y="1885950"/>
            <a:ext cx="328936" cy="215444"/>
          </a:xfrm>
          <a:prstGeom prst="rect">
            <a:avLst/>
          </a:prstGeom>
          <a:noFill/>
        </p:spPr>
        <p:txBody>
          <a:bodyPr wrap="none" rtlCol="0">
            <a:spAutoFit/>
          </a:bodyPr>
          <a:lstStyle/>
          <a:p>
            <a:r>
              <a:rPr lang="en-US" sz="800" b="1" smtClean="0">
                <a:latin typeface="Tahoma" pitchFamily="34" charset="0"/>
                <a:ea typeface="Tahoma" pitchFamily="34" charset="0"/>
                <a:cs typeface="Tahoma" pitchFamily="34" charset="0"/>
              </a:rPr>
              <a:t>AR</a:t>
            </a:r>
            <a:endParaRPr lang="en-US" sz="800" b="1">
              <a:latin typeface="Tahoma" pitchFamily="34" charset="0"/>
              <a:ea typeface="Tahoma" pitchFamily="34" charset="0"/>
              <a:cs typeface="Tahoma" pitchFamily="34" charset="0"/>
            </a:endParaRPr>
          </a:p>
        </p:txBody>
      </p:sp>
      <p:sp>
        <p:nvSpPr>
          <p:cNvPr id="5" name="TextBox 4"/>
          <p:cNvSpPr txBox="1"/>
          <p:nvPr/>
        </p:nvSpPr>
        <p:spPr>
          <a:xfrm>
            <a:off x="3626322" y="3224563"/>
            <a:ext cx="476412" cy="215444"/>
          </a:xfrm>
          <a:prstGeom prst="rect">
            <a:avLst/>
          </a:prstGeom>
          <a:noFill/>
        </p:spPr>
        <p:txBody>
          <a:bodyPr wrap="none" rtlCol="0">
            <a:spAutoFit/>
          </a:bodyPr>
          <a:lstStyle/>
          <a:p>
            <a:r>
              <a:rPr lang="en-US" sz="800" b="1" smtClean="0">
                <a:latin typeface="Tahoma" pitchFamily="34" charset="0"/>
                <a:ea typeface="Tahoma" pitchFamily="34" charset="0"/>
                <a:cs typeface="Tahoma" pitchFamily="34" charset="0"/>
              </a:rPr>
              <a:t>ST[A]</a:t>
            </a:r>
            <a:endParaRPr lang="en-US" sz="800" b="1">
              <a:latin typeface="Tahoma" pitchFamily="34" charset="0"/>
              <a:ea typeface="Tahoma" pitchFamily="34" charset="0"/>
              <a:cs typeface="Tahoma" pitchFamily="34" charset="0"/>
            </a:endParaRPr>
          </a:p>
        </p:txBody>
      </p:sp>
      <p:sp>
        <p:nvSpPr>
          <p:cNvPr id="6" name="TextBox 5"/>
          <p:cNvSpPr txBox="1"/>
          <p:nvPr/>
        </p:nvSpPr>
        <p:spPr>
          <a:xfrm>
            <a:off x="4333794" y="1853502"/>
            <a:ext cx="476412" cy="215444"/>
          </a:xfrm>
          <a:prstGeom prst="rect">
            <a:avLst/>
          </a:prstGeom>
          <a:noFill/>
        </p:spPr>
        <p:txBody>
          <a:bodyPr wrap="none" rtlCol="0">
            <a:spAutoFit/>
          </a:bodyPr>
          <a:lstStyle/>
          <a:p>
            <a:r>
              <a:rPr lang="en-US" sz="800" b="1" smtClean="0">
                <a:latin typeface="Tahoma" pitchFamily="34" charset="0"/>
                <a:ea typeface="Tahoma" pitchFamily="34" charset="0"/>
                <a:cs typeface="Tahoma" pitchFamily="34" charset="0"/>
              </a:rPr>
              <a:t>ST[B]</a:t>
            </a:r>
            <a:endParaRPr lang="en-US" sz="800" b="1">
              <a:latin typeface="Tahoma" pitchFamily="34" charset="0"/>
              <a:ea typeface="Tahoma" pitchFamily="34" charset="0"/>
              <a:cs typeface="Tahoma" pitchFamily="34" charset="0"/>
            </a:endParaRPr>
          </a:p>
        </p:txBody>
      </p:sp>
      <p:sp>
        <p:nvSpPr>
          <p:cNvPr id="7" name="TextBox 6"/>
          <p:cNvSpPr txBox="1"/>
          <p:nvPr/>
        </p:nvSpPr>
        <p:spPr>
          <a:xfrm>
            <a:off x="4711397" y="3009119"/>
            <a:ext cx="476412" cy="215444"/>
          </a:xfrm>
          <a:prstGeom prst="rect">
            <a:avLst/>
          </a:prstGeom>
          <a:noFill/>
        </p:spPr>
        <p:txBody>
          <a:bodyPr wrap="none" rtlCol="0">
            <a:spAutoFit/>
          </a:bodyPr>
          <a:lstStyle/>
          <a:p>
            <a:r>
              <a:rPr lang="en-US" sz="800" b="1" smtClean="0">
                <a:latin typeface="Tahoma" pitchFamily="34" charset="0"/>
                <a:ea typeface="Tahoma" pitchFamily="34" charset="0"/>
                <a:cs typeface="Tahoma" pitchFamily="34" charset="0"/>
              </a:rPr>
              <a:t>ST[B]</a:t>
            </a:r>
            <a:endParaRPr lang="en-US" sz="800" b="1">
              <a:latin typeface="Tahoma" pitchFamily="34" charset="0"/>
              <a:ea typeface="Tahoma" pitchFamily="34" charset="0"/>
              <a:cs typeface="Tahoma" pitchFamily="34" charset="0"/>
            </a:endParaRPr>
          </a:p>
        </p:txBody>
      </p:sp>
      <p:sp>
        <p:nvSpPr>
          <p:cNvPr id="8" name="TextBox 7"/>
          <p:cNvSpPr txBox="1"/>
          <p:nvPr/>
        </p:nvSpPr>
        <p:spPr>
          <a:xfrm>
            <a:off x="5402727" y="2842057"/>
            <a:ext cx="538930" cy="215444"/>
          </a:xfrm>
          <a:prstGeom prst="rect">
            <a:avLst/>
          </a:prstGeom>
          <a:solidFill>
            <a:schemeClr val="bg1"/>
          </a:solidFill>
        </p:spPr>
        <p:txBody>
          <a:bodyPr wrap="none" rtlCol="0">
            <a:spAutoFit/>
          </a:bodyPr>
          <a:lstStyle/>
          <a:p>
            <a:r>
              <a:rPr lang="en-US" sz="800" b="1" smtClean="0">
                <a:latin typeface="Tahoma" pitchFamily="34" charset="0"/>
                <a:ea typeface="Tahoma" pitchFamily="34" charset="0"/>
                <a:cs typeface="Tahoma" pitchFamily="34" charset="0"/>
              </a:rPr>
              <a:t>LPS[C]</a:t>
            </a:r>
            <a:endParaRPr lang="en-US" sz="800" b="1">
              <a:latin typeface="Tahoma" pitchFamily="34" charset="0"/>
              <a:ea typeface="Tahoma" pitchFamily="34" charset="0"/>
              <a:cs typeface="Tahoma" pitchFamily="34" charset="0"/>
            </a:endParaRPr>
          </a:p>
        </p:txBody>
      </p:sp>
      <p:sp>
        <p:nvSpPr>
          <p:cNvPr id="9" name="TextBox 8"/>
          <p:cNvSpPr txBox="1"/>
          <p:nvPr/>
        </p:nvSpPr>
        <p:spPr>
          <a:xfrm>
            <a:off x="5124564" y="1731963"/>
            <a:ext cx="476412" cy="215444"/>
          </a:xfrm>
          <a:prstGeom prst="rect">
            <a:avLst/>
          </a:prstGeom>
          <a:noFill/>
        </p:spPr>
        <p:txBody>
          <a:bodyPr wrap="none" rtlCol="0">
            <a:spAutoFit/>
          </a:bodyPr>
          <a:lstStyle/>
          <a:p>
            <a:r>
              <a:rPr lang="en-US" sz="800" b="1" smtClean="0">
                <a:latin typeface="Tahoma" pitchFamily="34" charset="0"/>
                <a:ea typeface="Tahoma" pitchFamily="34" charset="0"/>
                <a:cs typeface="Tahoma" pitchFamily="34" charset="0"/>
              </a:rPr>
              <a:t>ST[B]</a:t>
            </a:r>
            <a:endParaRPr lang="en-US" sz="800" b="1">
              <a:latin typeface="Tahoma" pitchFamily="34" charset="0"/>
              <a:ea typeface="Tahoma" pitchFamily="34" charset="0"/>
              <a:cs typeface="Tahoma" pitchFamily="34" charset="0"/>
            </a:endParaRPr>
          </a:p>
        </p:txBody>
      </p:sp>
      <p:pic>
        <p:nvPicPr>
          <p:cNvPr id="10"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36262713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TradingView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3" name="Content Placeholder 2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796" y="798352"/>
            <a:ext cx="5294407" cy="3546796"/>
          </a:xfrm>
          <a:prstGeom prst="rect">
            <a:avLst/>
          </a:prstGeom>
        </p:spPr>
      </p:pic>
    </p:spTree>
    <p:extLst>
      <p:ext uri="{BB962C8B-B14F-4D97-AF65-F5344CB8AC3E}">
        <p14:creationId xmlns:p14="http://schemas.microsoft.com/office/powerpoint/2010/main" val="13468365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2282</TotalTime>
  <Words>3139</Words>
  <Application>Microsoft Office PowerPoint</Application>
  <PresentationFormat>On-screen Show (16:9)</PresentationFormat>
  <Paragraphs>126</Paragraphs>
  <Slides>35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Arial Black</vt:lpstr>
      <vt:lpstr>Calibri</vt:lpstr>
      <vt:lpstr>Montserrat</vt:lpstr>
      <vt:lpstr>Tahoma</vt:lpstr>
      <vt:lpstr>Times New Roman</vt:lpstr>
      <vt:lpstr>UTM 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Mac</cp:lastModifiedBy>
  <cp:revision>156</cp:revision>
  <dcterms:created xsi:type="dcterms:W3CDTF">2021-09-26T11:57:29Z</dcterms:created>
  <dcterms:modified xsi:type="dcterms:W3CDTF">2021-10-14T09:24:14Z</dcterms:modified>
</cp:coreProperties>
</file>